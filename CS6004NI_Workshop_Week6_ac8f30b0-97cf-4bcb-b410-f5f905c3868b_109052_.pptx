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58" r:id="rId4"/>
    <p:sldId id="268" r:id="rId5"/>
    <p:sldId id="261" r:id="rId6"/>
    <p:sldId id="262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79" userDrawn="1">
          <p15:clr>
            <a:srgbClr val="A4A3A4"/>
          </p15:clr>
        </p15:guide>
        <p15:guide id="2" orient="horz" pos="6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448B"/>
    <a:srgbClr val="231F1F"/>
    <a:srgbClr val="4C4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A153C0-0243-2848-EFB8-A21765BAD73C}" v="885" dt="2025-11-27T09:10:08.179"/>
    <p1510:client id="{1FF84978-CAD5-686E-90C7-63DE3735B5E6}" v="1360" dt="2025-11-28T06:55:23.270"/>
    <p1510:client id="{40C472DD-3F61-39EE-4D8F-FE1286CA76C8}" v="116" dt="2025-11-28T02:37:03.645"/>
    <p1510:client id="{6587CEFD-D415-7FFC-FE5A-8FB07BC188E5}" v="400" dt="2025-11-27T07:20:54.416"/>
    <p1510:client id="{8D3055CA-D72D-3FE7-4E95-1687D0F1178C}" v="1312" dt="2025-11-28T02:08:07.077"/>
    <p1510:client id="{EEC2FCF3-6BED-B2CF-78E1-15B9F661460A}" v="11" dt="2025-11-28T03:24:12.168"/>
    <p1510:client id="{F468F160-9DA4-8579-B8B2-9290FED819F3}" v="183" dt="2025-11-28T08:42:32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90" y="72"/>
      </p:cViewPr>
      <p:guideLst>
        <p:guide pos="279"/>
        <p:guide orient="horz" pos="6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F80286-04EA-B742-ACD3-5BD4DE88E91B}" type="datetimeFigureOut">
              <a:rPr lang="en-NP" smtClean="0"/>
              <a:t>11/30/2025</a:t>
            </a:fld>
            <a:endParaRPr lang="en-N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60783-BDB1-7240-BA8B-D15AA2A29CE7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40818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72985-7039-A1E3-1089-E72739A93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004E8-7A4E-5CC1-CE4E-0DCA88F5DD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12008-43FB-B244-ACFC-397DCBDC1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11/30/2025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AF013-D4EF-FD20-DB9F-883E4125B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C123F-6F22-D6F4-D3B2-927E1DB41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221053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C7D6-2317-46C4-6DEC-0EFBD8C2D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13945-46B5-3E7F-2D09-4C1F813EE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00609-5AAB-A669-3247-051CE4414E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11/30/2025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CD165-0430-06E1-0D34-167CCC001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7FF71-4DFF-DA9F-6165-519DFA88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32606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21367-B5A4-A887-AE8E-4286C6125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84BA6-517C-8221-AFCE-599C4FD84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E02D2-66E9-07D2-3687-958A45A69F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11/30/2025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083C4-F5C8-6FF4-AE08-54E6E9F6D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1132A-E661-0FB1-7206-261912F8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990585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3A10-61AE-2244-A046-68F1EBAD8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96DFA-5B8B-31FF-0FA5-826AF3AFB4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6B10-25D7-05D3-C79E-982491A75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2DE00-CC9D-6FA8-3917-5F2FFF73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11/30/2025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DEC2F-F84B-909D-BFBC-595C7364F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74AEB-F577-AF08-6E76-DE1BD54DE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912579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0117C-1436-809B-4DE0-65512C63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7D5B6-46AF-73FD-D9A0-73B8F1AB2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7B3C0-4C41-6608-DEC5-0340995A7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A3AF01-8B00-2C72-293C-9C6E7EB3C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0E5EAF-95AF-66C8-54EC-79C6EAB398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B9C945-3072-5094-AA82-651B83900B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11/30/2025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6096A9-F278-FBB6-FC70-A1D94B1B2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7BAFCD-8712-CC27-E716-05164E0E5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727156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04F68-EE63-7DD0-778E-8387F64F2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94787-1DAD-C29F-0C21-94D01C0259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11/30/2025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CE759-B514-2DD7-95DB-E57A6EAEB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8DFAE6-C18C-20F2-F212-D372DF85C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87903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B1CE60-ABF7-237D-D8CE-2B000B15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11/30/2025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8EC592-19B3-B690-A693-2D45EB2B1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29433-A8DD-5E4F-B1F8-FD58AD0EC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770044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00A73-F493-3ED6-8964-CDCFD2753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15796-EE69-A7E2-7B47-560E905E8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A7A76-2E04-B3AE-BC44-9E73AD8BB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98809-6662-FD6A-A33B-3D620A330F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11/30/2025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C7975-48CB-1CB0-0BC7-E96B8480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46C7-4847-DEED-485F-AD06CA08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857130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255DA-D92F-EB9F-B661-840A189D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4E7B34-372E-A6F5-193F-A1ACEA8AC5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17139-4351-35A5-2540-C7821813D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BEB9D-7AF2-3AE5-A299-C2DACC72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11/30/2025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B8C82-49AA-CCD1-BC98-1C63DD119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F9BF9-4269-1F28-6873-38307C8CC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6219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43F9E-6AEF-74B1-9033-EBE41F4C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55130-BDBC-1FDC-6066-F717845AC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759BC-5AB4-4EEA-B1F0-60A5C21EC2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11/30/2025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6A3EE-5B72-A4E7-F574-A21A878B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6B763-BB55-67C4-0FCF-614C5FDE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460536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39B376-3F65-14CC-0EF9-55D69DE787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3D056-9343-E3BA-F317-6F217A910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E7994-EAFA-37ED-0F38-80F86E8F03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20A64-39EF-2648-A4D7-E9558008F087}" type="datetimeFigureOut">
              <a:rPr lang="en-NP" smtClean="0"/>
              <a:t>11/30/2025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75FED-EEE4-DB18-06E7-B1ADC5E2B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8A4F8-5786-1CAA-6892-A3CC2EB8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263456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615B2A-0AA2-747C-5E0D-D3F15EB96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EF4FA-D97A-A2F5-CE77-B29AD3936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BAB9F-F17B-9F0A-659E-4085463D6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3FCC1-3733-E431-1970-01FD22C50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CF00D7-1661-4A46-BCEF-C20FD98221FD}" type="slidenum">
              <a:rPr lang="en-NP" smtClean="0"/>
              <a:t>‹#›</a:t>
            </a:fld>
            <a:endParaRPr lang="en-NP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ADD442A-ED07-A004-1832-35515ADFF4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59" y="6273361"/>
            <a:ext cx="2210279" cy="439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760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5F3E18B-EBBC-38D4-C8D8-2DC47C4CE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384503"/>
            <a:ext cx="694267" cy="406400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531D1663-6115-0A87-7668-05D2C53BB546}"/>
              </a:ext>
            </a:extLst>
          </p:cNvPr>
          <p:cNvSpPr txBox="1"/>
          <p:nvPr/>
        </p:nvSpPr>
        <p:spPr>
          <a:xfrm>
            <a:off x="1763520" y="1690640"/>
            <a:ext cx="8664959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r>
              <a:rPr lang="en-US" sz="5400" b="1" i="0" u="none" strike="noStrike" dirty="0">
                <a:solidFill>
                  <a:srgbClr val="0B3041"/>
                </a:solidFill>
                <a:effectLst/>
                <a:latin typeface="Calibri"/>
                <a:ea typeface="Calibri"/>
                <a:cs typeface="Calibri"/>
              </a:rPr>
              <a:t>Week </a:t>
            </a:r>
            <a:r>
              <a:rPr lang="en-US" sz="5400" b="1" dirty="0">
                <a:solidFill>
                  <a:srgbClr val="0B3041"/>
                </a:solidFill>
                <a:latin typeface="Calibri"/>
                <a:ea typeface="Calibri"/>
                <a:cs typeface="Calibri"/>
              </a:rPr>
              <a:t>6 </a:t>
            </a:r>
            <a:r>
              <a:rPr lang="en-US" sz="5400" b="1" i="0" u="none" strike="noStrike" dirty="0">
                <a:solidFill>
                  <a:srgbClr val="0B3041"/>
                </a:solidFill>
                <a:effectLst/>
                <a:latin typeface="Calibri"/>
                <a:ea typeface="Calibri"/>
                <a:cs typeface="Calibri"/>
              </a:rPr>
              <a:t>- Workshop</a:t>
            </a:r>
            <a:r>
              <a:rPr lang="en-US" sz="54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​</a:t>
            </a:r>
          </a:p>
          <a:p>
            <a:pPr algn="ctr" rtl="0" fontAlgn="base">
              <a:buNone/>
            </a:pPr>
            <a:r>
              <a:rPr lang="en-US" sz="54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​</a:t>
            </a:r>
          </a:p>
          <a:p>
            <a:pPr algn="ctr" fontAlgn="base"/>
            <a:r>
              <a:rPr lang="en-US" sz="5400" b="1" dirty="0">
                <a:solidFill>
                  <a:srgbClr val="0B3041"/>
                </a:solidFill>
                <a:latin typeface="Calibri"/>
                <a:ea typeface="Calibri"/>
                <a:cs typeface="Calibri"/>
              </a:rPr>
              <a:t>Expression Bodied, Delegates, Lamda, LINQ</a:t>
            </a:r>
            <a:endParaRPr lang="en-US" sz="5400" b="1" i="0" dirty="0">
              <a:solidFill>
                <a:srgbClr val="0B3041"/>
              </a:solidFill>
              <a:effectLst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0AB6-95B1-E71E-F1B5-E47208DDD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E0D20BDB-9E15-ACA7-A885-1B730A1DB386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C17B4-CAF8-657D-0448-D9489CE386D2}"/>
              </a:ext>
            </a:extLst>
          </p:cNvPr>
          <p:cNvSpPr txBox="1"/>
          <p:nvPr/>
        </p:nvSpPr>
        <p:spPr>
          <a:xfrm>
            <a:off x="20733" y="683022"/>
            <a:ext cx="9211368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NP" sz="3200" b="1"/>
              <a:t>Task 1: Expression Bodied Members [10 Minutes]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C768A-01AF-A010-80DC-AF844F65607D}"/>
              </a:ext>
            </a:extLst>
          </p:cNvPr>
          <p:cNvSpPr txBox="1"/>
          <p:nvPr/>
        </p:nvSpPr>
        <p:spPr>
          <a:xfrm>
            <a:off x="193964" y="1294589"/>
            <a:ext cx="8700915" cy="1298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</a:rPr>
              <a:t>The class below </a:t>
            </a:r>
            <a:r>
              <a:rPr lang="en-US" b="1" dirty="0">
                <a:ea typeface="+mn-lt"/>
                <a:cs typeface="+mn-lt"/>
              </a:rPr>
              <a:t>calculates the area of a rectangle</a:t>
            </a:r>
            <a:r>
              <a:rPr lang="en-US" dirty="0">
                <a:ea typeface="+mn-lt"/>
                <a:cs typeface="+mn-lt"/>
              </a:rPr>
              <a:t>. Convert </a:t>
            </a:r>
            <a:r>
              <a:rPr lang="en-US" b="1" dirty="0">
                <a:ea typeface="+mn-lt"/>
                <a:cs typeface="+mn-lt"/>
              </a:rPr>
              <a:t>both properties and methods</a:t>
            </a:r>
            <a:r>
              <a:rPr lang="en-US" dirty="0">
                <a:ea typeface="+mn-lt"/>
                <a:cs typeface="+mn-lt"/>
              </a:rPr>
              <a:t> into expression-bodied members.  Also</a:t>
            </a:r>
            <a:r>
              <a:rPr lang="en-US" b="1" dirty="0">
                <a:ea typeface="+mn-lt"/>
                <a:cs typeface="+mn-lt"/>
              </a:rPr>
              <a:t> add a method</a:t>
            </a:r>
            <a:r>
              <a:rPr lang="en-US" dirty="0">
                <a:ea typeface="+mn-lt"/>
                <a:cs typeface="+mn-lt"/>
              </a:rPr>
              <a:t> to calculate </a:t>
            </a:r>
            <a:r>
              <a:rPr lang="en-US" b="1" dirty="0">
                <a:ea typeface="+mn-lt"/>
                <a:cs typeface="+mn-lt"/>
              </a:rPr>
              <a:t>its perimeter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b="1" dirty="0">
              <a:cs typeface="Arial"/>
            </a:endParaRP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D179F28-9DEB-4B8A-E9C2-487B40259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64" y="2679489"/>
            <a:ext cx="3732363" cy="3583738"/>
          </a:xfrm>
          <a:prstGeom prst="rect">
            <a:avLst/>
          </a:prstGeom>
        </p:spPr>
      </p:pic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B4D2EDE-8FA6-BE06-84C5-8442DE6A3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3249912"/>
            <a:ext cx="3972465" cy="19396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26F7EAE-0F69-F96B-A08B-150A268136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CBB8C4-F923-83B9-F473-F52CB8895DC4}"/>
              </a:ext>
            </a:extLst>
          </p:cNvPr>
          <p:cNvSpPr/>
          <p:nvPr/>
        </p:nvSpPr>
        <p:spPr>
          <a:xfrm>
            <a:off x="8908635" y="2412877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EC1FCD-C876-2C02-CDE1-88145A857C9C}"/>
              </a:ext>
            </a:extLst>
          </p:cNvPr>
          <p:cNvSpPr txBox="1"/>
          <p:nvPr/>
        </p:nvSpPr>
        <p:spPr>
          <a:xfrm>
            <a:off x="9232900" y="2294546"/>
            <a:ext cx="1013996" cy="30115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6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NP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794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6DFCF-2150-26A8-9900-BCAFBE960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6C88C01-196E-848B-A6F9-C3EF58BCEFC1}"/>
              </a:ext>
            </a:extLst>
          </p:cNvPr>
          <p:cNvSpPr txBox="1"/>
          <p:nvPr/>
        </p:nvSpPr>
        <p:spPr>
          <a:xfrm>
            <a:off x="356288" y="611202"/>
            <a:ext cx="7292637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3200" b="1"/>
              <a:t>Task 2: Custom Delegate [20 Minutes]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7EEFD7DC-5CBB-32B5-8987-0F2E2C6AEEA0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B9736E-9409-3591-07A6-045EFF86F43D}"/>
              </a:ext>
            </a:extLst>
          </p:cNvPr>
          <p:cNvSpPr txBox="1"/>
          <p:nvPr/>
        </p:nvSpPr>
        <p:spPr>
          <a:xfrm>
            <a:off x="191046" y="1336519"/>
            <a:ext cx="8538540" cy="46228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</a:rPr>
              <a:t>Create a delegate named </a:t>
            </a:r>
            <a:r>
              <a:rPr lang="en-US" b="1" dirty="0">
                <a:ea typeface="+mn-lt"/>
                <a:cs typeface="+mn-lt"/>
              </a:rPr>
              <a:t>Calculate</a:t>
            </a:r>
            <a:r>
              <a:rPr lang="en-US" dirty="0">
                <a:ea typeface="+mn-lt"/>
                <a:cs typeface="+mn-lt"/>
              </a:rPr>
              <a:t> that </a:t>
            </a:r>
            <a:r>
              <a:rPr lang="en-US" b="1" dirty="0">
                <a:ea typeface="+mn-lt"/>
                <a:cs typeface="+mn-lt"/>
              </a:rPr>
              <a:t>accepts two integers and returns</a:t>
            </a:r>
            <a:r>
              <a:rPr lang="en-US" dirty="0">
                <a:ea typeface="+mn-lt"/>
                <a:cs typeface="+mn-lt"/>
              </a:rPr>
              <a:t> an integer.</a:t>
            </a:r>
            <a:endParaRPr lang="en-US" dirty="0"/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Write two methods: </a:t>
            </a:r>
            <a:r>
              <a:rPr lang="en-US" b="1" dirty="0">
                <a:ea typeface="+mn-lt"/>
                <a:cs typeface="+mn-lt"/>
              </a:rPr>
              <a:t>Add()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Subtract().</a:t>
            </a:r>
            <a:endParaRPr lang="en-US" dirty="0"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 the delegate to call both methods.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Define a delegate named </a:t>
            </a:r>
            <a:r>
              <a:rPr lang="en-US" b="1" dirty="0" err="1"/>
              <a:t>DiscountStrategy</a:t>
            </a:r>
            <a:r>
              <a:rPr lang="en-US" dirty="0"/>
              <a:t> that takes a</a:t>
            </a:r>
            <a:r>
              <a:rPr lang="en-US" b="1" dirty="0"/>
              <a:t> price (double)</a:t>
            </a:r>
            <a:r>
              <a:rPr lang="en-US" dirty="0"/>
              <a:t> and </a:t>
            </a:r>
            <a:r>
              <a:rPr lang="en-US" b="1" dirty="0"/>
              <a:t>returns the discounted price</a:t>
            </a:r>
            <a:r>
              <a:rPr lang="en-US" dirty="0"/>
              <a:t>.</a:t>
            </a:r>
          </a:p>
          <a:p>
            <a:pPr marL="685800" lvl="1" indent="-228600">
              <a:lnSpc>
                <a:spcPct val="150000"/>
              </a:lnSpc>
              <a:buFont typeface="Arial"/>
              <a:buChar char="•"/>
            </a:pPr>
            <a:r>
              <a:rPr lang="en-US" dirty="0"/>
              <a:t>Create </a:t>
            </a:r>
            <a:r>
              <a:rPr lang="en-US" b="1" dirty="0"/>
              <a:t>three discount methods</a:t>
            </a:r>
            <a:r>
              <a:rPr lang="en-US" dirty="0"/>
              <a:t>:</a:t>
            </a:r>
          </a:p>
          <a:p>
            <a:pPr marL="685800" lvl="2" indent="-228600">
              <a:lnSpc>
                <a:spcPct val="150000"/>
              </a:lnSpc>
              <a:buFont typeface="Arial"/>
              <a:buChar char="•"/>
            </a:pPr>
            <a:r>
              <a:rPr lang="en-US" dirty="0" err="1"/>
              <a:t>FestivalDiscount</a:t>
            </a:r>
            <a:r>
              <a:rPr lang="en-US" dirty="0"/>
              <a:t> → 20% off</a:t>
            </a:r>
          </a:p>
          <a:p>
            <a:pPr marL="685800" lvl="2" indent="-228600">
              <a:lnSpc>
                <a:spcPct val="150000"/>
              </a:lnSpc>
              <a:buFont typeface="Arial"/>
              <a:buChar char="•"/>
            </a:pPr>
            <a:r>
              <a:rPr lang="en-US" dirty="0" err="1"/>
              <a:t>SeasonalDiscount</a:t>
            </a:r>
            <a:r>
              <a:rPr lang="en-US" dirty="0"/>
              <a:t> → 10% off</a:t>
            </a:r>
          </a:p>
          <a:p>
            <a:pPr marL="685800" lvl="2" indent="-228600">
              <a:lnSpc>
                <a:spcPct val="150000"/>
              </a:lnSpc>
              <a:buFont typeface="Arial"/>
              <a:buChar char="•"/>
            </a:pPr>
            <a:r>
              <a:rPr lang="en-US" dirty="0" err="1"/>
              <a:t>NoDiscount</a:t>
            </a:r>
            <a:r>
              <a:rPr lang="en-US" dirty="0"/>
              <a:t> → returns price as it 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601447-EC91-6286-1279-C5AB466339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FFF8F4-F55A-FC1E-6145-DFAD7ED9FA23}"/>
              </a:ext>
            </a:extLst>
          </p:cNvPr>
          <p:cNvSpPr/>
          <p:nvPr/>
        </p:nvSpPr>
        <p:spPr>
          <a:xfrm>
            <a:off x="8908635" y="2793877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F9D4B5-6D28-61D9-4A5A-11DA63FC7C50}"/>
              </a:ext>
            </a:extLst>
          </p:cNvPr>
          <p:cNvSpPr txBox="1"/>
          <p:nvPr/>
        </p:nvSpPr>
        <p:spPr>
          <a:xfrm>
            <a:off x="9232900" y="2294546"/>
            <a:ext cx="1013996" cy="30115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6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NP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660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068C3-8D83-C8C1-9721-BC8D7A68D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ADA3635-020F-337F-BCE4-F9BB7553D57E}"/>
              </a:ext>
            </a:extLst>
          </p:cNvPr>
          <p:cNvSpPr txBox="1"/>
          <p:nvPr/>
        </p:nvSpPr>
        <p:spPr>
          <a:xfrm>
            <a:off x="356288" y="611202"/>
            <a:ext cx="7491410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3200" b="1"/>
              <a:t>Task 2.1: Custom Delegate [20 Minutes]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131A10D8-D3A7-99EC-3A3D-668AAB841443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1CC06D-B74D-72CD-E0F3-C3149BFCD7CC}"/>
              </a:ext>
            </a:extLst>
          </p:cNvPr>
          <p:cNvSpPr txBox="1"/>
          <p:nvPr/>
        </p:nvSpPr>
        <p:spPr>
          <a:xfrm>
            <a:off x="191046" y="1336519"/>
            <a:ext cx="8538540" cy="46228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ea typeface="+mn-lt"/>
                <a:cs typeface="+mn-lt"/>
              </a:rPr>
              <a:t>2.1 Create a method named </a:t>
            </a:r>
            <a:r>
              <a:rPr lang="en-US" b="1" dirty="0" err="1">
                <a:ea typeface="+mn-lt"/>
                <a:cs typeface="+mn-lt"/>
              </a:rPr>
              <a:t>CalculateFinalPrice</a:t>
            </a:r>
            <a:r>
              <a:rPr lang="en-US" b="1" dirty="0">
                <a:ea typeface="+mn-lt"/>
                <a:cs typeface="+mn-lt"/>
              </a:rPr>
              <a:t>(double </a:t>
            </a:r>
            <a:r>
              <a:rPr lang="en-US" b="1" dirty="0" err="1">
                <a:ea typeface="+mn-lt"/>
                <a:cs typeface="+mn-lt"/>
              </a:rPr>
              <a:t>originalPrice</a:t>
            </a:r>
            <a:r>
              <a:rPr lang="en-US" b="1" dirty="0">
                <a:ea typeface="+mn-lt"/>
                <a:cs typeface="+mn-lt"/>
              </a:rPr>
              <a:t>,   </a:t>
            </a:r>
            <a:r>
              <a:rPr lang="en-US" b="1" dirty="0" err="1">
                <a:ea typeface="+mn-lt"/>
                <a:cs typeface="+mn-lt"/>
              </a:rPr>
              <a:t>DiscountStrategy</a:t>
            </a:r>
            <a:r>
              <a:rPr lang="en-US" b="1" dirty="0">
                <a:ea typeface="+mn-lt"/>
                <a:cs typeface="+mn-lt"/>
              </a:rPr>
              <a:t> strategy)</a:t>
            </a:r>
            <a:r>
              <a:rPr lang="en-US" dirty="0">
                <a:ea typeface="+mn-lt"/>
                <a:cs typeface="+mn-lt"/>
              </a:rPr>
              <a:t> that: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Accepts the original price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Accepts a </a:t>
            </a:r>
            <a:r>
              <a:rPr lang="en-US" b="1" dirty="0">
                <a:ea typeface="+mn-lt"/>
                <a:cs typeface="+mn-lt"/>
              </a:rPr>
              <a:t>delegate</a:t>
            </a:r>
            <a:r>
              <a:rPr lang="en-US" dirty="0">
                <a:ea typeface="+mn-lt"/>
                <a:cs typeface="+mn-lt"/>
              </a:rPr>
              <a:t> as the discount strategy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Returns the </a:t>
            </a:r>
            <a:r>
              <a:rPr lang="en-US" b="1" dirty="0">
                <a:ea typeface="+mn-lt"/>
                <a:cs typeface="+mn-lt"/>
              </a:rPr>
              <a:t>final payable amount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2.2 In </a:t>
            </a:r>
            <a:r>
              <a:rPr lang="en-US" b="1" dirty="0" err="1"/>
              <a:t>Program.cs</a:t>
            </a:r>
            <a:r>
              <a:rPr lang="en-US" b="1" dirty="0"/>
              <a:t> , </a:t>
            </a:r>
            <a:r>
              <a:rPr lang="en-US" dirty="0"/>
              <a:t>call </a:t>
            </a:r>
            <a:r>
              <a:rPr lang="en-US" b="1" dirty="0" err="1"/>
              <a:t>CalculateFinalPrice</a:t>
            </a:r>
            <a:r>
              <a:rPr lang="en-US" b="1" dirty="0"/>
              <a:t> </a:t>
            </a:r>
            <a:r>
              <a:rPr lang="en-US" dirty="0"/>
              <a:t>method by passing original  price and all discount strategy method one by one. </a:t>
            </a:r>
          </a:p>
          <a:p>
            <a:pPr>
              <a:lnSpc>
                <a:spcPct val="150000"/>
              </a:lnSpc>
            </a:pPr>
            <a:r>
              <a:rPr lang="en-US" b="1" dirty="0"/>
              <a:t>2.3 Again</a:t>
            </a:r>
            <a:r>
              <a:rPr lang="en-US" dirty="0"/>
              <a:t>, call </a:t>
            </a:r>
            <a:r>
              <a:rPr lang="en-US" b="1" dirty="0" err="1"/>
              <a:t>CalculateFinalPrice</a:t>
            </a:r>
            <a:r>
              <a:rPr lang="en-US" b="1" dirty="0"/>
              <a:t> </a:t>
            </a:r>
            <a:r>
              <a:rPr lang="en-US" dirty="0"/>
              <a:t>method by passing an original value and a </a:t>
            </a:r>
            <a:r>
              <a:rPr lang="en-US" b="1" dirty="0"/>
              <a:t>Lamda expression </a:t>
            </a:r>
            <a:r>
              <a:rPr lang="en-US" dirty="0"/>
              <a:t>where 30% discount is granted. 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B4C7A4-5C6C-1FDC-7EB7-1B5E4BDEAF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BC3757-18B4-D977-3926-D310A9942E8E}"/>
              </a:ext>
            </a:extLst>
          </p:cNvPr>
          <p:cNvSpPr/>
          <p:nvPr/>
        </p:nvSpPr>
        <p:spPr>
          <a:xfrm>
            <a:off x="8908635" y="2803904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A71CA5-5FE0-01DC-CFDD-B8962D9DD5E8}"/>
              </a:ext>
            </a:extLst>
          </p:cNvPr>
          <p:cNvSpPr txBox="1"/>
          <p:nvPr/>
        </p:nvSpPr>
        <p:spPr>
          <a:xfrm>
            <a:off x="9232900" y="2294546"/>
            <a:ext cx="1013996" cy="30115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6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NP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063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F6D7B-9815-B09F-3F30-F2EA13FCA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184CB7-952C-1469-24FF-B461A10C8D95}"/>
              </a:ext>
            </a:extLst>
          </p:cNvPr>
          <p:cNvSpPr txBox="1"/>
          <p:nvPr/>
        </p:nvSpPr>
        <p:spPr>
          <a:xfrm>
            <a:off x="356288" y="611202"/>
            <a:ext cx="7136121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NP" sz="3200" b="1"/>
              <a:t>Task 3 : </a:t>
            </a:r>
            <a:r>
              <a:rPr lang="en-US" sz="3200" b="1">
                <a:ea typeface="+mn-lt"/>
                <a:cs typeface="+mn-lt"/>
              </a:rPr>
              <a:t>Built-in Delegate [ 10 </a:t>
            </a:r>
            <a:r>
              <a:rPr lang="en-NP" sz="3200" b="1"/>
              <a:t>Minutes]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06B500BF-5DFA-6ADC-FD97-9F745B26D7C0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F2421-B1B8-3B4D-ACBE-1FEF97F39A77}"/>
              </a:ext>
            </a:extLst>
          </p:cNvPr>
          <p:cNvSpPr txBox="1"/>
          <p:nvPr/>
        </p:nvSpPr>
        <p:spPr>
          <a:xfrm>
            <a:off x="87162" y="1535168"/>
            <a:ext cx="8405363" cy="29752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</a:rPr>
              <a:t>Create a method: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latin typeface="Aptos"/>
              </a:rPr>
              <a:t>void </a:t>
            </a:r>
            <a:r>
              <a:rPr lang="en-US" b="1" dirty="0" err="1">
                <a:latin typeface="Aptos"/>
              </a:rPr>
              <a:t>ProcessNumbers</a:t>
            </a:r>
            <a:r>
              <a:rPr lang="en-US" b="1" dirty="0">
                <a:latin typeface="Aptos"/>
              </a:rPr>
              <a:t>(int[] numbers, Func&lt;int, bool&gt; condition)</a:t>
            </a: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</a:rPr>
              <a:t>Use it to print: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Only even numbers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Only numbers greater than 10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i="1" dirty="0">
                <a:ea typeface="+mn-lt"/>
                <a:cs typeface="+mn-lt"/>
              </a:rPr>
              <a:t>(Pass a </a:t>
            </a:r>
            <a:r>
              <a:rPr lang="en-US" i="1" dirty="0">
                <a:latin typeface="Aptos"/>
              </a:rPr>
              <a:t>Func</a:t>
            </a:r>
            <a:r>
              <a:rPr lang="en-US" i="1" dirty="0">
                <a:ea typeface="+mn-lt"/>
                <a:cs typeface="+mn-lt"/>
              </a:rPr>
              <a:t> delegate for the condition.)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8C33F3-1650-70B9-0871-9F7E160DDB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AA517F-B1D2-5872-A210-2E9BF9DDD652}"/>
              </a:ext>
            </a:extLst>
          </p:cNvPr>
          <p:cNvSpPr/>
          <p:nvPr/>
        </p:nvSpPr>
        <p:spPr>
          <a:xfrm>
            <a:off x="8908635" y="3154825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3792AE-A2A4-EFA2-1C66-2A1C4BEA6C1C}"/>
              </a:ext>
            </a:extLst>
          </p:cNvPr>
          <p:cNvSpPr txBox="1"/>
          <p:nvPr/>
        </p:nvSpPr>
        <p:spPr>
          <a:xfrm>
            <a:off x="9232900" y="2294546"/>
            <a:ext cx="1013996" cy="30115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6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NP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538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7DA8B-42FA-0CA8-428B-AF889AFDC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E49A695-879D-C549-743B-1F1EB82406BD}"/>
              </a:ext>
            </a:extLst>
          </p:cNvPr>
          <p:cNvSpPr txBox="1"/>
          <p:nvPr/>
        </p:nvSpPr>
        <p:spPr>
          <a:xfrm>
            <a:off x="126251" y="611202"/>
            <a:ext cx="770070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NP" sz="3200" b="1" dirty="0"/>
              <a:t>Task 4 : </a:t>
            </a:r>
            <a:r>
              <a:rPr lang="en-US" sz="3200" b="1">
                <a:ea typeface="+mn-lt"/>
                <a:cs typeface="+mn-lt"/>
              </a:rPr>
              <a:t>LINQ Basics [ 15 </a:t>
            </a:r>
            <a:r>
              <a:rPr lang="en-NP" sz="3200" b="1"/>
              <a:t>Minutes]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0114DB9D-30BF-9481-E020-681972E0E9F3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ECA42-DA83-42D1-55A0-9F5EC4F5FDB7}"/>
              </a:ext>
            </a:extLst>
          </p:cNvPr>
          <p:cNvSpPr txBox="1"/>
          <p:nvPr/>
        </p:nvSpPr>
        <p:spPr>
          <a:xfrm>
            <a:off x="-2238" y="1341465"/>
            <a:ext cx="8477249" cy="48998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Selecting / Projection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Create a list of integers: </a:t>
            </a:r>
            <a:r>
              <a:rPr lang="en-US" dirty="0">
                <a:latin typeface="Consolas"/>
              </a:rPr>
              <a:t>[1, 2, 3, </a:t>
            </a:r>
            <a:r>
              <a:rPr lang="en-US" dirty="0">
                <a:latin typeface="Consolas"/>
                <a:ea typeface="+mn-lt"/>
                <a:cs typeface="+mn-lt"/>
              </a:rPr>
              <a:t>4</a:t>
            </a:r>
            <a:r>
              <a:rPr lang="en-US" dirty="0">
                <a:latin typeface="Consolas"/>
              </a:rPr>
              <a:t>, 5]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 LINQ to </a:t>
            </a:r>
            <a:r>
              <a:rPr lang="en-US" b="1" dirty="0">
                <a:ea typeface="+mn-lt"/>
                <a:cs typeface="+mn-lt"/>
              </a:rPr>
              <a:t>square each number</a:t>
            </a:r>
            <a:r>
              <a:rPr lang="en-US" dirty="0">
                <a:ea typeface="+mn-lt"/>
                <a:cs typeface="+mn-lt"/>
              </a:rPr>
              <a:t> and store it in a new collection.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Print the squared numbers.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b="1" dirty="0"/>
              <a:t>Filtering (Where)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dirty="0"/>
              <a:t>A bookstore wants to filter its premium books from their price list. Use LINQ to extract all books priced above Rs. 1000.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b="1" i="1" dirty="0"/>
              <a:t>[Hint: You need to have a list of books' object]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b="1" dirty="0"/>
              <a:t>Sorting (</a:t>
            </a:r>
            <a:r>
              <a:rPr lang="en-US" b="1" dirty="0" err="1"/>
              <a:t>OrderBy</a:t>
            </a:r>
            <a:r>
              <a:rPr lang="en-US" b="1" dirty="0"/>
              <a:t>/</a:t>
            </a:r>
            <a:r>
              <a:rPr lang="en-US" b="1" dirty="0" err="1"/>
              <a:t>OrderByDescending</a:t>
            </a:r>
            <a:r>
              <a:rPr lang="en-US" b="1" dirty="0"/>
              <a:t>)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dirty="0" err="1"/>
              <a:t>Itahari</a:t>
            </a:r>
            <a:r>
              <a:rPr lang="en-US" dirty="0"/>
              <a:t> International college is about to award 10 students AAA scholarship award, sort their name alphabetically.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b="1" i="1" dirty="0"/>
              <a:t>[Hint: You need to have a list of students' object]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4429D4-8DC5-8856-386C-23D8912C3F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648108-D422-CE58-9A96-5F1602528F45}"/>
              </a:ext>
            </a:extLst>
          </p:cNvPr>
          <p:cNvSpPr/>
          <p:nvPr/>
        </p:nvSpPr>
        <p:spPr>
          <a:xfrm>
            <a:off x="8908635" y="3515772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76C0D4-7E86-C942-72CC-CAD0F399655C}"/>
              </a:ext>
            </a:extLst>
          </p:cNvPr>
          <p:cNvSpPr txBox="1"/>
          <p:nvPr/>
        </p:nvSpPr>
        <p:spPr>
          <a:xfrm>
            <a:off x="9232900" y="2294546"/>
            <a:ext cx="1013996" cy="30115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6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NP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042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B7014-DEA5-8CEA-2BB4-4BC796816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34D982B-4F54-4BA6-8BD1-8981A6A44E79}"/>
              </a:ext>
            </a:extLst>
          </p:cNvPr>
          <p:cNvSpPr txBox="1"/>
          <p:nvPr/>
        </p:nvSpPr>
        <p:spPr>
          <a:xfrm>
            <a:off x="126251" y="611202"/>
            <a:ext cx="770070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NP" sz="3200" b="1" dirty="0"/>
              <a:t>Task 5 : </a:t>
            </a:r>
            <a:r>
              <a:rPr lang="en-US" sz="3200" b="1">
                <a:ea typeface="+mn-lt"/>
                <a:cs typeface="+mn-lt"/>
              </a:rPr>
              <a:t>LINQ Continued.. [ 15 </a:t>
            </a:r>
            <a:r>
              <a:rPr lang="en-NP" sz="3200" b="1"/>
              <a:t>Minutes]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36AE67C2-EA26-D9F0-7EAB-261263541D30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0E39AD-4081-B3D5-2C10-96F0F85AB951}"/>
              </a:ext>
            </a:extLst>
          </p:cNvPr>
          <p:cNvSpPr txBox="1"/>
          <p:nvPr/>
        </p:nvSpPr>
        <p:spPr>
          <a:xfrm>
            <a:off x="-2238" y="1341465"/>
            <a:ext cx="8477249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Aggregation Operator</a:t>
            </a:r>
          </a:p>
          <a:p>
            <a:pPr marL="800100" lvl="1" indent="-342900">
              <a:buFont typeface="Courier New"/>
              <a:buChar char="o"/>
            </a:pPr>
            <a:r>
              <a:rPr lang="en-US" dirty="0"/>
              <a:t>A supermarket collected daily sales from its cashiers. Now using LINQ calculate: </a:t>
            </a:r>
          </a:p>
          <a:p>
            <a:pPr marL="1257300" lvl="2" indent="-342900">
              <a:buFont typeface="Wingdings"/>
              <a:buChar char="§"/>
            </a:pPr>
            <a:r>
              <a:rPr lang="en-US" dirty="0"/>
              <a:t>Total number of cashiers and total sales of the day</a:t>
            </a:r>
          </a:p>
          <a:p>
            <a:pPr marL="1257300" lvl="2" indent="-342900">
              <a:buFont typeface="Wingdings"/>
              <a:buChar char="§"/>
            </a:pPr>
            <a:r>
              <a:rPr lang="en-US" dirty="0"/>
              <a:t>Highest, lowest and average sales</a:t>
            </a:r>
          </a:p>
          <a:p>
            <a:pPr marL="800100" lvl="1" indent="-342900">
              <a:buFont typeface="Courier New"/>
              <a:buChar char="o"/>
            </a:pPr>
            <a:r>
              <a:rPr lang="en-US" b="1" dirty="0"/>
              <a:t>[Hint: Make a list of </a:t>
            </a:r>
            <a:r>
              <a:rPr lang="en-US" b="1" dirty="0" err="1"/>
              <a:t>CashierSales</a:t>
            </a:r>
            <a:r>
              <a:rPr lang="en-US" b="1" dirty="0"/>
              <a:t> object ]</a:t>
            </a:r>
          </a:p>
          <a:p>
            <a:pPr marL="342900" indent="-342900">
              <a:buAutoNum type="arabicPeriod"/>
            </a:pPr>
            <a:r>
              <a:rPr lang="en-US" b="1" dirty="0"/>
              <a:t>Quantifier Operators (Any/All)</a:t>
            </a:r>
            <a:endParaRPr lang="en-US" dirty="0"/>
          </a:p>
          <a:p>
            <a:pPr marL="800100" lvl="1" indent="-342900">
              <a:buFont typeface="Courier New"/>
              <a:buChar char="o"/>
            </a:pPr>
            <a:r>
              <a:rPr lang="en-US" dirty="0"/>
              <a:t>You are working in Election Commission office. Now check:</a:t>
            </a:r>
          </a:p>
          <a:p>
            <a:pPr marL="1257300" lvl="2" indent="-342900">
              <a:buFont typeface="Wingdings"/>
              <a:buChar char="§"/>
            </a:pPr>
            <a:r>
              <a:rPr lang="en-US" dirty="0"/>
              <a:t>Are there any applicant under 18.</a:t>
            </a:r>
          </a:p>
          <a:p>
            <a:pPr marL="1257300" lvl="2" indent="-342900">
              <a:buFont typeface="Wingdings"/>
              <a:buChar char="§"/>
            </a:pPr>
            <a:r>
              <a:rPr lang="en-US" dirty="0"/>
              <a:t>If every applicants are above 16 </a:t>
            </a:r>
          </a:p>
          <a:p>
            <a:pPr marL="1257300" lvl="2" indent="-342900">
              <a:buFont typeface="Wingdings"/>
              <a:buChar char="§"/>
            </a:pPr>
            <a:r>
              <a:rPr lang="en-US" b="1" dirty="0">
                <a:ea typeface="+mn-lt"/>
                <a:cs typeface="+mn-lt"/>
              </a:rPr>
              <a:t>[Hint: Make a list of Applicants Object]</a:t>
            </a:r>
          </a:p>
          <a:p>
            <a:pPr marL="342900" indent="-342900">
              <a:buAutoNum type="arabicPeriod"/>
            </a:pPr>
            <a:r>
              <a:rPr lang="en-US" b="1" dirty="0">
                <a:ea typeface="+mn-lt"/>
                <a:cs typeface="+mn-lt"/>
              </a:rPr>
              <a:t>Element Operators (First, Last, </a:t>
            </a:r>
            <a:r>
              <a:rPr lang="en-US" b="1" dirty="0" err="1">
                <a:ea typeface="+mn-lt"/>
                <a:cs typeface="+mn-lt"/>
              </a:rPr>
              <a:t>FirstOrDefault</a:t>
            </a:r>
            <a:r>
              <a:rPr lang="en-US" b="1" dirty="0">
                <a:ea typeface="+mn-lt"/>
                <a:cs typeface="+mn-lt"/>
              </a:rPr>
              <a:t>)</a:t>
            </a:r>
          </a:p>
          <a:p>
            <a:pPr marL="800100" lvl="1" indent="-34290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A music app stores song duration in seconds. Using LINQ, find the following:</a:t>
            </a:r>
          </a:p>
          <a:p>
            <a:pPr marL="1257300" lvl="2" indent="-342900">
              <a:buFont typeface="Wingdings"/>
              <a:buChar char="§"/>
            </a:pPr>
            <a:r>
              <a:rPr lang="en-US" dirty="0">
                <a:ea typeface="+mn-lt"/>
                <a:cs typeface="+mn-lt"/>
              </a:rPr>
              <a:t>First song &amp; Last song</a:t>
            </a:r>
          </a:p>
          <a:p>
            <a:pPr marL="1257300" lvl="2" indent="-342900">
              <a:buFont typeface="Wingdings"/>
              <a:buChar char="§"/>
            </a:pPr>
            <a:r>
              <a:rPr lang="en-US" dirty="0">
                <a:ea typeface="+mn-lt"/>
                <a:cs typeface="+mn-lt"/>
              </a:rPr>
              <a:t>First song with duration above 4 minutes</a:t>
            </a:r>
          </a:p>
          <a:p>
            <a:pPr marL="1257300" lvl="2" indent="-342900">
              <a:buFont typeface="Wingdings"/>
              <a:buChar char="§"/>
            </a:pPr>
            <a:r>
              <a:rPr lang="en-US" dirty="0">
                <a:ea typeface="+mn-lt"/>
                <a:cs typeface="+mn-lt"/>
              </a:rPr>
              <a:t>A safe result for the first song longer than </a:t>
            </a:r>
            <a:r>
              <a:rPr lang="en-US" b="1" dirty="0">
                <a:ea typeface="+mn-lt"/>
                <a:cs typeface="+mn-lt"/>
              </a:rPr>
              <a:t>10 minutes</a:t>
            </a:r>
            <a:r>
              <a:rPr lang="en-US" dirty="0">
                <a:ea typeface="+mn-lt"/>
                <a:cs typeface="+mn-lt"/>
              </a:rPr>
              <a:t> (use </a:t>
            </a:r>
            <a:r>
              <a:rPr lang="en-US" dirty="0" err="1">
                <a:latin typeface="Aptos"/>
                <a:ea typeface="+mn-lt"/>
                <a:cs typeface="+mn-lt"/>
              </a:rPr>
              <a:t>FirstOrDefault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pPr marL="1257300" lvl="2" indent="-342900">
              <a:buFont typeface="Wingdings"/>
              <a:buChar char="§"/>
            </a:pPr>
            <a:r>
              <a:rPr lang="en-US" b="1" dirty="0">
                <a:ea typeface="+mn-lt"/>
                <a:cs typeface="+mn-lt"/>
              </a:rPr>
              <a:t>[Hint: Use a list of music object with required fields]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084372-5CCC-CAA7-90F6-739EC0560B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DA956E-F652-8D63-29A6-65C0ADB615C4}"/>
              </a:ext>
            </a:extLst>
          </p:cNvPr>
          <p:cNvSpPr/>
          <p:nvPr/>
        </p:nvSpPr>
        <p:spPr>
          <a:xfrm>
            <a:off x="8908635" y="3876719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70F8C8-3BD1-964E-7E50-A5F6DB3589E8}"/>
              </a:ext>
            </a:extLst>
          </p:cNvPr>
          <p:cNvSpPr txBox="1"/>
          <p:nvPr/>
        </p:nvSpPr>
        <p:spPr>
          <a:xfrm>
            <a:off x="9232900" y="2294546"/>
            <a:ext cx="1013996" cy="30115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6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NP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367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EB3D0-D221-B9EB-D19C-CC3827AE5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506F84B-A5A9-1099-8903-B135CED310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8379E-E42E-B3B8-AF1F-3AC04D83E10B}"/>
              </a:ext>
            </a:extLst>
          </p:cNvPr>
          <p:cNvSpPr txBox="1"/>
          <p:nvPr/>
        </p:nvSpPr>
        <p:spPr>
          <a:xfrm>
            <a:off x="126251" y="611202"/>
            <a:ext cx="770070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NP" sz="3200" b="1" dirty="0"/>
              <a:t>Task 6 : </a:t>
            </a:r>
            <a:r>
              <a:rPr lang="en-US" sz="3200" b="1" dirty="0">
                <a:ea typeface="+mn-lt"/>
                <a:cs typeface="+mn-lt"/>
              </a:rPr>
              <a:t>LINQ Continued.. </a:t>
            </a:r>
            <a:r>
              <a:rPr lang="en-US" sz="3200" b="1">
                <a:ea typeface="+mn-lt"/>
                <a:cs typeface="+mn-lt"/>
              </a:rPr>
              <a:t>[ 20 </a:t>
            </a:r>
            <a:r>
              <a:rPr lang="en-NP" sz="3200" b="1"/>
              <a:t>Minutes]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5BDB2-669A-3737-8013-2E0070AE5F8B}"/>
              </a:ext>
            </a:extLst>
          </p:cNvPr>
          <p:cNvSpPr/>
          <p:nvPr/>
        </p:nvSpPr>
        <p:spPr>
          <a:xfrm>
            <a:off x="8908635" y="4247693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B2A7E511-1E90-8D6D-4766-C76674DA21E5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967394-A895-8123-F787-A54EECBB36D3}"/>
              </a:ext>
            </a:extLst>
          </p:cNvPr>
          <p:cNvSpPr txBox="1"/>
          <p:nvPr/>
        </p:nvSpPr>
        <p:spPr>
          <a:xfrm>
            <a:off x="-2238" y="1341465"/>
            <a:ext cx="8477249" cy="58693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</a:rPr>
              <a:t>A travel company stores a</a:t>
            </a:r>
            <a:r>
              <a:rPr lang="en-US" b="1" dirty="0">
                <a:ea typeface="+mn-lt"/>
                <a:cs typeface="+mn-lt"/>
              </a:rPr>
              <a:t> list of tour bookings</a:t>
            </a:r>
            <a:r>
              <a:rPr lang="en-US" dirty="0">
                <a:ea typeface="+mn-lt"/>
                <a:cs typeface="+mn-lt"/>
              </a:rPr>
              <a:t>. Each </a:t>
            </a:r>
            <a:r>
              <a:rPr lang="en-US" b="1" dirty="0">
                <a:ea typeface="+mn-lt"/>
                <a:cs typeface="+mn-lt"/>
              </a:rPr>
              <a:t>booking contains</a:t>
            </a:r>
            <a:r>
              <a:rPr lang="en-US" dirty="0">
                <a:ea typeface="+mn-lt"/>
                <a:cs typeface="+mn-lt"/>
              </a:rPr>
              <a:t> the following information:</a:t>
            </a:r>
            <a:endParaRPr lang="en-US" dirty="0"/>
          </a:p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r>
              <a:rPr lang="en-US" dirty="0">
                <a:ea typeface="+mn-lt"/>
                <a:cs typeface="+mn-lt"/>
              </a:rPr>
              <a:t>CustomerName</a:t>
            </a:r>
          </a:p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r>
              <a:rPr lang="en-US" dirty="0">
                <a:ea typeface="+mn-lt"/>
                <a:cs typeface="+mn-lt"/>
              </a:rPr>
              <a:t>Destination</a:t>
            </a:r>
          </a:p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r>
              <a:rPr lang="en-US" dirty="0">
                <a:ea typeface="+mn-lt"/>
                <a:cs typeface="+mn-lt"/>
              </a:rPr>
              <a:t>Price</a:t>
            </a:r>
          </a:p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r>
              <a:rPr lang="en-US" dirty="0" err="1">
                <a:ea typeface="+mn-lt"/>
                <a:cs typeface="+mn-lt"/>
              </a:rPr>
              <a:t>DurationInDay</a:t>
            </a:r>
            <a:endParaRPr lang="en-US" dirty="0"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r>
              <a:rPr lang="en-US" dirty="0" err="1">
                <a:ea typeface="+mn-lt"/>
                <a:cs typeface="+mn-lt"/>
              </a:rPr>
              <a:t>IsInternational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Scenario:</a:t>
            </a:r>
            <a:r>
              <a:rPr lang="en-US" dirty="0"/>
              <a:t> The company wants to prepare a summary </a:t>
            </a:r>
            <a:r>
              <a:rPr lang="en-US" b="1" dirty="0"/>
              <a:t>report for market analysis</a:t>
            </a:r>
            <a:r>
              <a:rPr lang="en-US" dirty="0"/>
              <a:t>. Using LINQ, perform following the following:</a:t>
            </a:r>
          </a:p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r>
              <a:rPr lang="en-US" b="1" dirty="0"/>
              <a:t>Filter:</a:t>
            </a:r>
          </a:p>
          <a:p>
            <a:pPr marL="1257300" lvl="2" indent="-342900">
              <a:lnSpc>
                <a:spcPct val="150000"/>
              </a:lnSpc>
              <a:buFont typeface="Wingdings,Sans-Serif"/>
              <a:buChar char="§"/>
            </a:pPr>
            <a:r>
              <a:rPr lang="en-US" dirty="0"/>
              <a:t>Tours above Rs. 10,000.</a:t>
            </a:r>
          </a:p>
          <a:p>
            <a:pPr marL="1257300" lvl="2" indent="-342900">
              <a:lnSpc>
                <a:spcPct val="150000"/>
              </a:lnSpc>
              <a:buFont typeface="Wingdings,Sans-Serif"/>
              <a:buChar char="§"/>
            </a:pPr>
            <a:r>
              <a:rPr lang="en-US" dirty="0"/>
              <a:t>Tour duration more than 4 days.</a:t>
            </a:r>
          </a:p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endParaRPr lang="en-US" b="1" dirty="0"/>
          </a:p>
          <a:p>
            <a:pPr lvl="1">
              <a:lnSpc>
                <a:spcPct val="150000"/>
              </a:lnSpc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EC1AC9-016C-9250-8686-69AEB72B0C13}"/>
              </a:ext>
            </a:extLst>
          </p:cNvPr>
          <p:cNvSpPr txBox="1"/>
          <p:nvPr/>
        </p:nvSpPr>
        <p:spPr>
          <a:xfrm>
            <a:off x="9232900" y="2294546"/>
            <a:ext cx="1013996" cy="30115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6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NP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00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62F67-AE7E-85FC-C2D8-FD0B4B73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8412260-D20C-E49B-A9E0-C42D5AC37674}"/>
              </a:ext>
            </a:extLst>
          </p:cNvPr>
          <p:cNvSpPr txBox="1"/>
          <p:nvPr/>
        </p:nvSpPr>
        <p:spPr>
          <a:xfrm>
            <a:off x="126251" y="611202"/>
            <a:ext cx="7700706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NP" sz="3200" b="1" dirty="0"/>
              <a:t>Task 6 : </a:t>
            </a:r>
            <a:r>
              <a:rPr lang="en-US" sz="3200" b="1">
                <a:ea typeface="+mn-lt"/>
                <a:cs typeface="+mn-lt"/>
              </a:rPr>
              <a:t>LINQ Continued.. [ 20 </a:t>
            </a:r>
            <a:r>
              <a:rPr lang="en-NP" sz="3200" b="1" dirty="0"/>
              <a:t>Minutes]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50F3377F-B223-D0FB-79DB-C2D97C095362}"/>
              </a:ext>
            </a:extLst>
          </p:cNvPr>
          <p:cNvSpPr/>
          <p:nvPr/>
        </p:nvSpPr>
        <p:spPr>
          <a:xfrm>
            <a:off x="-2117738" y="1257211"/>
            <a:ext cx="6239666" cy="85475"/>
          </a:xfrm>
          <a:custGeom>
            <a:avLst/>
            <a:gdLst/>
            <a:ahLst/>
            <a:cxnLst/>
            <a:rect l="l" t="t" r="r" b="b"/>
            <a:pathLst>
              <a:path w="9359499" h="128212">
                <a:moveTo>
                  <a:pt x="0" y="0"/>
                </a:moveTo>
                <a:lnTo>
                  <a:pt x="9359499" y="0"/>
                </a:lnTo>
                <a:lnTo>
                  <a:pt x="9359499" y="128212"/>
                </a:lnTo>
                <a:lnTo>
                  <a:pt x="0" y="12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P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D28CE-B92F-8F76-5B54-8A5814462638}"/>
              </a:ext>
            </a:extLst>
          </p:cNvPr>
          <p:cNvSpPr txBox="1"/>
          <p:nvPr/>
        </p:nvSpPr>
        <p:spPr>
          <a:xfrm>
            <a:off x="-2238" y="1341465"/>
            <a:ext cx="8477249" cy="2960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00100" lvl="1" indent="-342900">
              <a:lnSpc>
                <a:spcPct val="150000"/>
              </a:lnSpc>
              <a:buFont typeface="Courier New,monospace"/>
              <a:buChar char="o"/>
            </a:pPr>
            <a:r>
              <a:rPr lang="en-US" b="1" dirty="0"/>
              <a:t>Transform (Project) the filtered list into a new list which will contain:</a:t>
            </a:r>
            <a:endParaRPr lang="en-US" dirty="0"/>
          </a:p>
          <a:p>
            <a:pPr marL="1257300" lvl="2" indent="-342900">
              <a:lnSpc>
                <a:spcPct val="150000"/>
              </a:lnSpc>
              <a:buFont typeface="Wingdings,Sans-Serif"/>
              <a:buChar char="§"/>
            </a:pPr>
            <a:r>
              <a:rPr lang="en-US" dirty="0" err="1"/>
              <a:t>CustomName</a:t>
            </a:r>
            <a:endParaRPr lang="en-US" dirty="0"/>
          </a:p>
          <a:p>
            <a:pPr marL="1257300" lvl="2" indent="-342900">
              <a:lnSpc>
                <a:spcPct val="150000"/>
              </a:lnSpc>
              <a:buFont typeface="Wingdings,Sans-Serif"/>
              <a:buChar char="§"/>
            </a:pPr>
            <a:r>
              <a:rPr lang="en-US" dirty="0"/>
              <a:t>Destination</a:t>
            </a:r>
          </a:p>
          <a:p>
            <a:pPr marL="1257300" lvl="2" indent="-342900">
              <a:lnSpc>
                <a:spcPct val="150000"/>
              </a:lnSpc>
              <a:buFont typeface="Wingdings,Sans-Serif"/>
              <a:buChar char="§"/>
            </a:pPr>
            <a:r>
              <a:rPr lang="en-US" dirty="0"/>
              <a:t>Category : "International" or "Domestic" based on </a:t>
            </a:r>
            <a:r>
              <a:rPr lang="en-US" dirty="0" err="1"/>
              <a:t>IsInternational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Now </a:t>
            </a:r>
            <a:r>
              <a:rPr lang="en-US" b="1" dirty="0"/>
              <a:t>sort </a:t>
            </a:r>
            <a:r>
              <a:rPr lang="en-US" dirty="0"/>
              <a:t>the result  based on </a:t>
            </a:r>
            <a:r>
              <a:rPr lang="en-US" b="1" dirty="0"/>
              <a:t>Category </a:t>
            </a:r>
            <a:r>
              <a:rPr lang="en-US" dirty="0"/>
              <a:t>(Display domestic category first, then International). </a:t>
            </a:r>
            <a:r>
              <a:rPr lang="en-US" b="1" dirty="0"/>
              <a:t>Then sort</a:t>
            </a:r>
            <a:r>
              <a:rPr lang="en-US" dirty="0"/>
              <a:t> the list based on </a:t>
            </a:r>
            <a:r>
              <a:rPr lang="en-US" b="1" dirty="0"/>
              <a:t>price </a:t>
            </a:r>
            <a:r>
              <a:rPr lang="en-US" dirty="0"/>
              <a:t>as well.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Now </a:t>
            </a:r>
            <a:r>
              <a:rPr lang="en-US" b="1" dirty="0"/>
              <a:t>display </a:t>
            </a:r>
            <a:r>
              <a:rPr lang="en-US" dirty="0"/>
              <a:t>each element of the list in a </a:t>
            </a:r>
            <a:r>
              <a:rPr lang="en-US" b="1" dirty="0"/>
              <a:t>clean format</a:t>
            </a:r>
            <a:r>
              <a:rPr lang="en-US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569A5-7D50-3C54-08FA-F52E8B0185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05455" y="0"/>
            <a:ext cx="3186545" cy="6858000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en-NP" sz="1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6ED4F1-3C0D-7F20-AE5E-5375100A8F9E}"/>
              </a:ext>
            </a:extLst>
          </p:cNvPr>
          <p:cNvSpPr/>
          <p:nvPr/>
        </p:nvSpPr>
        <p:spPr>
          <a:xfrm>
            <a:off x="8908635" y="4247693"/>
            <a:ext cx="3278908" cy="240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D67B5E-FF64-7D46-17BF-2C545695586E}"/>
              </a:ext>
            </a:extLst>
          </p:cNvPr>
          <p:cNvSpPr txBox="1"/>
          <p:nvPr/>
        </p:nvSpPr>
        <p:spPr>
          <a:xfrm>
            <a:off x="9232900" y="2294546"/>
            <a:ext cx="1013996" cy="30115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N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1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2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3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4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5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Task 6</a:t>
            </a: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NP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481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797</Words>
  <Application>Microsoft Office PowerPoint</Application>
  <PresentationFormat>Widescreen</PresentationFormat>
  <Paragraphs>123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Aptos</vt:lpstr>
      <vt:lpstr>Aptos Display</vt:lpstr>
      <vt:lpstr>Arial</vt:lpstr>
      <vt:lpstr>Arial,Sans-Serif</vt:lpstr>
      <vt:lpstr>Calibri</vt:lpstr>
      <vt:lpstr>Consolas</vt:lpstr>
      <vt:lpstr>Courier New</vt:lpstr>
      <vt:lpstr>Courier New,monospace</vt:lpstr>
      <vt:lpstr>Wingdings</vt:lpstr>
      <vt:lpstr>Wingdings,Sans-Serif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Thaper, Nirmal</dc:creator>
  <cp:lastModifiedBy>Alisha Magar</cp:lastModifiedBy>
  <cp:revision>156</cp:revision>
  <dcterms:created xsi:type="dcterms:W3CDTF">2025-06-03T06:25:01Z</dcterms:created>
  <dcterms:modified xsi:type="dcterms:W3CDTF">2025-11-30T13:19:38Z</dcterms:modified>
</cp:coreProperties>
</file>