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58" r:id="rId4"/>
    <p:sldId id="261" r:id="rId5"/>
    <p:sldId id="267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9" userDrawn="1">
          <p15:clr>
            <a:srgbClr val="A4A3A4"/>
          </p15:clr>
        </p15:guide>
        <p15:guide id="2" orient="horz" pos="6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48B"/>
    <a:srgbClr val="231F1F"/>
    <a:srgbClr val="4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12C1E8-CA5D-6EC7-57C8-23617B6BFA11}" v="1163" dt="2025-11-20T08:09:33.604"/>
    <p1510:client id="{A3E602C5-2BB4-7B60-672E-864CAA1E4CDB}" v="2238" dt="2025-11-19T08:06:24.752"/>
    <p1510:client id="{F6B495B3-79FE-7B6D-7C45-7F92C9C5B183}" v="132" dt="2025-11-20T07:52:44.638"/>
    <p1510:client id="{FEE9DC54-B13F-5F09-E0FF-04CE200FC461}" v="1247" dt="2025-11-20T11:20:52.6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279"/>
        <p:guide orient="horz" pos="663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80286-04EA-B742-ACD3-5BD4DE88E91B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60783-BDB1-7240-BA8B-D15AA2A29CE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081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2985-7039-A1E3-1089-E72739A93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004E8-7A4E-5CC1-CE4E-0DCA88F5D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2008-43FB-B244-ACFC-397DCBDC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AF013-D4EF-FD20-DB9F-883E4125B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C123F-6F22-D6F4-D3B2-927E1DB4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22105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C7D6-2317-46C4-6DEC-0EFBD8C2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13945-46B5-3E7F-2D09-4C1F813EE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00609-5AAB-A669-3247-051CE441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CD165-0430-06E1-0D34-167CCC001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7FF71-4DFF-DA9F-6165-519DFA88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3260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1367-B5A4-A887-AE8E-4286C612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84BA6-517C-8221-AFCE-599C4FD84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E02D2-66E9-07D2-3687-958A45A6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083C4-F5C8-6FF4-AE08-54E6E9F6D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1132A-E661-0FB1-7206-261912F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9058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3A10-61AE-2244-A046-68F1EBAD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96DFA-5B8B-31FF-0FA5-826AF3AFB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6B10-25D7-05D3-C79E-982491A75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2DE00-CC9D-6FA8-3917-5F2FFF73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DEC2F-F84B-909D-BFBC-595C7364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74AEB-F577-AF08-6E76-DE1BD54D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1257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0117C-1436-809B-4DE0-65512C63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7D5B6-46AF-73FD-D9A0-73B8F1AB2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7B3C0-4C41-6608-DEC5-0340995A7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3AF01-8B00-2C72-293C-9C6E7EB3C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E5EAF-95AF-66C8-54EC-79C6EAB39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B9C945-3072-5094-AA82-651B8390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6096A9-F278-FBB6-FC70-A1D94B1B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BAFCD-8712-CC27-E716-05164E0E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727156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4F68-EE63-7DD0-778E-8387F64F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94787-1DAD-C29F-0C21-94D01C0259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CE759-B514-2DD7-95DB-E57A6EAE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DFAE6-C18C-20F2-F212-D372DF85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8790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1CE60-ABF7-237D-D8CE-2B000B15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8EC592-19B3-B690-A693-2D45EB2B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29433-A8DD-5E4F-B1F8-FD58AD0E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77004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0A73-F493-3ED6-8964-CDCFD275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15796-EE69-A7E2-7B47-560E905E8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A7A76-2E04-B3AE-BC44-9E73AD8BB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98809-6662-FD6A-A33B-3D620A33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C7975-48CB-1CB0-0BC7-E96B8480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46C7-4847-DEED-485F-AD06CA08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5713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55DA-D92F-EB9F-B661-840A189D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E7B34-372E-A6F5-193F-A1ACEA8AC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17139-4351-35A5-2540-C7821813D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BEB9D-7AF2-3AE5-A299-C2DACC72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B8C82-49AA-CCD1-BC98-1C63DD119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F9BF9-4269-1F28-6873-38307C8CC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219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3F9E-6AEF-74B1-9033-EBE41F4C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5130-BDBC-1FDC-6066-F717845AC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759BC-5AB4-4EEA-B1F0-60A5C21E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6A3EE-5B72-A4E7-F574-A21A878B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6B763-BB55-67C4-0FCF-614C5FDE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6053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9B376-3F65-14CC-0EF9-55D69DE78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3D056-9343-E3BA-F317-6F217A910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E7994-EAFA-37ED-0F38-80F86E8F0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11/20/2025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75FED-EEE4-DB18-06E7-B1ADC5E2B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8A4F8-5786-1CAA-6892-A3CC2EB8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26345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15B2A-0AA2-747C-5E0D-D3F15EB96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EF4FA-D97A-A2F5-CE77-B29AD3936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BAB9F-F17B-9F0A-659E-4085463D6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3FCC1-3733-E431-1970-01FD22C50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ADD442A-ED07-A004-1832-35515ADFF4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59" y="6273361"/>
            <a:ext cx="2210279" cy="43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60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5F3E18B-EBBC-38D4-C8D8-2DC47C4CE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384503"/>
            <a:ext cx="694267" cy="40640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531D1663-6115-0A87-7668-05D2C53BB546}"/>
              </a:ext>
            </a:extLst>
          </p:cNvPr>
          <p:cNvSpPr txBox="1"/>
          <p:nvPr/>
        </p:nvSpPr>
        <p:spPr>
          <a:xfrm>
            <a:off x="1763520" y="1690640"/>
            <a:ext cx="8664959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en-US" sz="5400" b="1" i="0" u="none" strike="noStrike">
                <a:solidFill>
                  <a:srgbClr val="0B3041"/>
                </a:solidFill>
                <a:effectLst/>
                <a:latin typeface="Calibri"/>
                <a:ea typeface="Calibri"/>
                <a:cs typeface="Calibri"/>
              </a:rPr>
              <a:t>Week </a:t>
            </a:r>
            <a:r>
              <a:rPr lang="en-US" sz="5400" b="1">
                <a:solidFill>
                  <a:srgbClr val="0B3041"/>
                </a:solidFill>
                <a:latin typeface="Calibri"/>
                <a:ea typeface="Calibri"/>
                <a:cs typeface="Calibri"/>
              </a:rPr>
              <a:t>4 </a:t>
            </a:r>
            <a:r>
              <a:rPr lang="en-US" sz="5400" b="1" i="0" u="none" strike="noStrike">
                <a:solidFill>
                  <a:srgbClr val="0B3041"/>
                </a:solidFill>
                <a:effectLst/>
                <a:latin typeface="Calibri"/>
                <a:ea typeface="Calibri"/>
                <a:cs typeface="Calibri"/>
              </a:rPr>
              <a:t>- Workshop</a:t>
            </a:r>
            <a:r>
              <a:rPr lang="en-US" sz="5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​</a:t>
            </a:r>
          </a:p>
          <a:p>
            <a:pPr algn="ctr" rtl="0" fontAlgn="base">
              <a:buNone/>
            </a:pPr>
            <a:r>
              <a:rPr lang="en-US" sz="5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​</a:t>
            </a:r>
          </a:p>
          <a:p>
            <a:pPr algn="ctr" fontAlgn="base"/>
            <a:r>
              <a:rPr lang="en-US" sz="5400" b="1">
                <a:solidFill>
                  <a:srgbClr val="0B3041"/>
                </a:solidFill>
                <a:latin typeface="Calibri"/>
                <a:ea typeface="Calibri"/>
                <a:cs typeface="Calibri"/>
              </a:rPr>
              <a:t>Class Object Method Constructor</a:t>
            </a:r>
            <a:endParaRPr lang="en-US" sz="5400" b="1" i="0">
              <a:solidFill>
                <a:srgbClr val="0B3041"/>
              </a:solidFill>
              <a:effectLst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0AB6-95B1-E71E-F1B5-E47208DDD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FBB5E1-C38B-815C-5FEC-DC70D6E9E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E9848C-A2FF-8F7C-647C-15761D36686F}"/>
              </a:ext>
            </a:extLst>
          </p:cNvPr>
          <p:cNvSpPr/>
          <p:nvPr/>
        </p:nvSpPr>
        <p:spPr>
          <a:xfrm>
            <a:off x="8913092" y="243675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E0D20BDB-9E15-ACA7-A885-1B730A1DB386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C17B4-CAF8-657D-0448-D9489CE386D2}"/>
              </a:ext>
            </a:extLst>
          </p:cNvPr>
          <p:cNvSpPr txBox="1"/>
          <p:nvPr/>
        </p:nvSpPr>
        <p:spPr>
          <a:xfrm>
            <a:off x="337035" y="625513"/>
            <a:ext cx="6599884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NP" sz="3200" b="1"/>
              <a:t>Task 1: Encapsulation [20 Minutes]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5F08BB-849F-F5CB-3707-2F91AAED596E}"/>
              </a:ext>
            </a:extLst>
          </p:cNvPr>
          <p:cNvSpPr txBox="1"/>
          <p:nvPr/>
        </p:nvSpPr>
        <p:spPr>
          <a:xfrm>
            <a:off x="9232900" y="2294546"/>
            <a:ext cx="1013996" cy="190353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C768A-01AF-A010-80DC-AF844F65607D}"/>
              </a:ext>
            </a:extLst>
          </p:cNvPr>
          <p:cNvSpPr txBox="1"/>
          <p:nvPr/>
        </p:nvSpPr>
        <p:spPr>
          <a:xfrm>
            <a:off x="193964" y="1308966"/>
            <a:ext cx="8312727" cy="50383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cs typeface="Arial"/>
              </a:rPr>
              <a:t>Create a class </a:t>
            </a:r>
            <a:r>
              <a:rPr lang="en-US" b="1" i="1" dirty="0" err="1">
                <a:cs typeface="Arial"/>
              </a:rPr>
              <a:t>BankAccount</a:t>
            </a:r>
            <a:r>
              <a:rPr lang="en-US" b="1" i="1" dirty="0">
                <a:cs typeface="Arial"/>
              </a:rPr>
              <a:t> </a:t>
            </a:r>
            <a:r>
              <a:rPr lang="en-US" dirty="0">
                <a:cs typeface="Arial"/>
              </a:rPr>
              <a:t>and perform following tasks: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dirty="0">
                <a:cs typeface="Arial"/>
              </a:rPr>
              <a:t>Create private fields </a:t>
            </a:r>
            <a:r>
              <a:rPr lang="en-US" b="1" i="1" dirty="0" err="1">
                <a:cs typeface="Arial"/>
              </a:rPr>
              <a:t>accountNumber</a:t>
            </a:r>
            <a:r>
              <a:rPr lang="en-US" b="1" i="1" dirty="0">
                <a:cs typeface="Arial"/>
              </a:rPr>
              <a:t> </a:t>
            </a:r>
            <a:r>
              <a:rPr lang="en-US" dirty="0">
                <a:cs typeface="Arial"/>
              </a:rPr>
              <a:t>and </a:t>
            </a:r>
            <a:r>
              <a:rPr lang="en-US" b="1" i="1" dirty="0">
                <a:cs typeface="Arial"/>
              </a:rPr>
              <a:t>balance.</a:t>
            </a:r>
            <a:endParaRPr lang="en-US" dirty="0"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dirty="0">
                <a:cs typeface="Arial"/>
              </a:rPr>
              <a:t>Create two public properties:</a:t>
            </a:r>
          </a:p>
          <a:p>
            <a:pPr marL="1257300" lvl="2" indent="-342900">
              <a:lnSpc>
                <a:spcPct val="150000"/>
              </a:lnSpc>
              <a:buFont typeface="Wingdings,Sans-Serif"/>
              <a:buChar char="§"/>
            </a:pPr>
            <a:r>
              <a:rPr lang="en-US" dirty="0" err="1">
                <a:cs typeface="Arial"/>
              </a:rPr>
              <a:t>AccountNumber</a:t>
            </a:r>
            <a:r>
              <a:rPr lang="en-US" dirty="0">
                <a:cs typeface="Arial"/>
              </a:rPr>
              <a:t> with only get and not set. (Hint you will pass the value using constructor).</a:t>
            </a:r>
          </a:p>
          <a:p>
            <a:pPr marL="1257300" lvl="2" indent="-342900">
              <a:lnSpc>
                <a:spcPct val="150000"/>
              </a:lnSpc>
              <a:buFont typeface="Wingdings,Sans-Serif"/>
              <a:buChar char="§"/>
            </a:pPr>
            <a:r>
              <a:rPr lang="en-US" dirty="0">
                <a:cs typeface="Arial"/>
              </a:rPr>
              <a:t>Balance with a condition that </a:t>
            </a:r>
            <a:r>
              <a:rPr lang="en-US" b="1" dirty="0">
                <a:cs typeface="Arial"/>
              </a:rPr>
              <a:t>doesn’t allow negative or 0 values</a:t>
            </a:r>
            <a:r>
              <a:rPr lang="en-US" dirty="0">
                <a:cs typeface="Arial"/>
              </a:rPr>
              <a:t>. </a:t>
            </a:r>
            <a:r>
              <a:rPr lang="en-US" b="1" dirty="0">
                <a:cs typeface="Arial"/>
              </a:rPr>
              <a:t>(Make set private)</a:t>
            </a:r>
            <a:endParaRPr lang="en-US" b="1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cs typeface="Arial"/>
              </a:rPr>
              <a:t>Create two methods </a:t>
            </a:r>
            <a:r>
              <a:rPr lang="en-US" b="1" dirty="0">
                <a:cs typeface="Arial"/>
              </a:rPr>
              <a:t>Deposit(double amount)</a:t>
            </a:r>
            <a:r>
              <a:rPr lang="en-US" dirty="0">
                <a:cs typeface="Arial"/>
              </a:rPr>
              <a:t> and </a:t>
            </a:r>
            <a:r>
              <a:rPr lang="en-US" b="1" dirty="0">
                <a:cs typeface="Arial"/>
              </a:rPr>
              <a:t>withdraw(double amount)</a:t>
            </a:r>
            <a:r>
              <a:rPr lang="en-US" dirty="0">
                <a:cs typeface="Arial"/>
              </a:rPr>
              <a:t> these methods will change amount in the balance private field.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cs typeface="Arial"/>
              </a:rPr>
              <a:t>Add a conditions in both method and verify the amounts.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cs typeface="Arial"/>
              </a:rPr>
              <a:t>In </a:t>
            </a:r>
            <a:r>
              <a:rPr lang="en-US" dirty="0" err="1">
                <a:cs typeface="Arial"/>
              </a:rPr>
              <a:t>Program.cs</a:t>
            </a:r>
            <a:r>
              <a:rPr lang="en-US" dirty="0">
                <a:cs typeface="Arial"/>
              </a:rPr>
              <a:t>, create an object of bank Account, display the account number, deposit and then withdraw the money. Then print the remaining balance.</a:t>
            </a:r>
          </a:p>
        </p:txBody>
      </p:sp>
    </p:spTree>
    <p:extLst>
      <p:ext uri="{BB962C8B-B14F-4D97-AF65-F5344CB8AC3E}">
        <p14:creationId xmlns:p14="http://schemas.microsoft.com/office/powerpoint/2010/main" val="3641794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6DFCF-2150-26A8-9900-BCAFBE960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E290EB-4B0D-EE34-756A-B083554EF3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88C01-196E-848B-A6F9-C3EF58BCEFC1}"/>
              </a:ext>
            </a:extLst>
          </p:cNvPr>
          <p:cNvSpPr txBox="1"/>
          <p:nvPr/>
        </p:nvSpPr>
        <p:spPr>
          <a:xfrm>
            <a:off x="356288" y="611202"/>
            <a:ext cx="6063135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 b="1"/>
              <a:t>Task 2: Inheritance [20 Minutes]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1FFB50-6506-AEFA-7EF3-B5075981D379}"/>
              </a:ext>
            </a:extLst>
          </p:cNvPr>
          <p:cNvSpPr/>
          <p:nvPr/>
        </p:nvSpPr>
        <p:spPr>
          <a:xfrm>
            <a:off x="8913091" y="2787243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EEFD7DC-5CBB-32B5-8987-0F2E2C6AEEA0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9736E-9409-3591-07A6-045EFF86F43D}"/>
              </a:ext>
            </a:extLst>
          </p:cNvPr>
          <p:cNvSpPr txBox="1"/>
          <p:nvPr/>
        </p:nvSpPr>
        <p:spPr>
          <a:xfrm>
            <a:off x="191046" y="1336519"/>
            <a:ext cx="8538540" cy="3791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/>
              <a:t>Create a base class </a:t>
            </a:r>
            <a:r>
              <a:rPr lang="en-US" b="1" i="1"/>
              <a:t>Vehicle </a:t>
            </a:r>
            <a:r>
              <a:rPr lang="en-US"/>
              <a:t>with following: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b="1"/>
              <a:t>Properties</a:t>
            </a:r>
            <a:r>
              <a:rPr lang="en-US"/>
              <a:t>: Brand, Speed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b="1"/>
              <a:t>Methods</a:t>
            </a:r>
            <a:r>
              <a:rPr lang="en-US"/>
              <a:t>: Start(), Stop(), </a:t>
            </a:r>
            <a:r>
              <a:rPr lang="en-US" err="1"/>
              <a:t>DisplayInfo</a:t>
            </a:r>
            <a:r>
              <a:rPr lang="en-US"/>
              <a:t>()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/>
              <a:t>Create two </a:t>
            </a:r>
            <a:r>
              <a:rPr lang="en-US" b="1"/>
              <a:t>derived classes</a:t>
            </a:r>
            <a:r>
              <a:rPr lang="en-US"/>
              <a:t> </a:t>
            </a:r>
            <a:r>
              <a:rPr lang="en-US" b="1" i="1"/>
              <a:t>Car </a:t>
            </a:r>
            <a:r>
              <a:rPr lang="en-US" b="1"/>
              <a:t>and</a:t>
            </a:r>
            <a:r>
              <a:rPr lang="en-US"/>
              <a:t> </a:t>
            </a:r>
            <a:r>
              <a:rPr lang="en-US" b="1" i="1"/>
              <a:t>Motorcycle</a:t>
            </a:r>
            <a:r>
              <a:rPr lang="en-US"/>
              <a:t>. Each class must add one unique field like seats for class </a:t>
            </a:r>
            <a:r>
              <a:rPr lang="en-US" b="1" i="1"/>
              <a:t>Car</a:t>
            </a:r>
            <a:r>
              <a:rPr lang="en-US"/>
              <a:t>. Override the </a:t>
            </a:r>
            <a:r>
              <a:rPr lang="en-US" b="1" i="1" err="1"/>
              <a:t>DisplayInfo</a:t>
            </a:r>
            <a:r>
              <a:rPr lang="en-US" b="1" i="1"/>
              <a:t>()</a:t>
            </a:r>
            <a:r>
              <a:rPr lang="en-US"/>
              <a:t> and also display the unique field added.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/>
              <a:t>In </a:t>
            </a:r>
            <a:r>
              <a:rPr lang="en-US" b="1" i="1" err="1"/>
              <a:t>Program.cs</a:t>
            </a:r>
            <a:r>
              <a:rPr lang="en-US"/>
              <a:t>, do the following: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/>
              <a:t>Create objects of both derived classes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/>
              <a:t>Call the methods of base class and demonstrate the code reusability.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53CB08-BD76-61AE-E413-36032FB7012E}"/>
              </a:ext>
            </a:extLst>
          </p:cNvPr>
          <p:cNvSpPr txBox="1"/>
          <p:nvPr/>
        </p:nvSpPr>
        <p:spPr>
          <a:xfrm>
            <a:off x="9232900" y="2294546"/>
            <a:ext cx="1013996" cy="264219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66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6D7B-9815-B09F-3F30-F2EA13FC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B69EC3-3DE7-87A7-C623-E587689DE3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84CB7-952C-1469-24FF-B461A10C8D95}"/>
              </a:ext>
            </a:extLst>
          </p:cNvPr>
          <p:cNvSpPr txBox="1"/>
          <p:nvPr/>
        </p:nvSpPr>
        <p:spPr>
          <a:xfrm>
            <a:off x="356288" y="611202"/>
            <a:ext cx="679570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NP" sz="3200" b="1" dirty="0"/>
              <a:t>Task 3 : </a:t>
            </a:r>
            <a:r>
              <a:rPr lang="en-US" sz="3200" b="1">
                <a:ea typeface="+mn-lt"/>
                <a:cs typeface="+mn-lt"/>
              </a:rPr>
              <a:t>Polymorphism [ 10 </a:t>
            </a:r>
            <a:r>
              <a:rPr lang="en-NP" sz="3200" b="1"/>
              <a:t>Minutes]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12BC97-9D1C-6795-F66C-7F9BEB82A10E}"/>
              </a:ext>
            </a:extLst>
          </p:cNvPr>
          <p:cNvSpPr/>
          <p:nvPr/>
        </p:nvSpPr>
        <p:spPr>
          <a:xfrm>
            <a:off x="8828424" y="313496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06B500BF-5DFA-6ADC-FD97-9F745B26D7C0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F2421-B1B8-3B4D-ACBE-1FEF97F39A77}"/>
              </a:ext>
            </a:extLst>
          </p:cNvPr>
          <p:cNvSpPr txBox="1"/>
          <p:nvPr/>
        </p:nvSpPr>
        <p:spPr>
          <a:xfrm>
            <a:off x="899" y="1722073"/>
            <a:ext cx="8477249" cy="17143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Create a class </a:t>
            </a:r>
            <a:r>
              <a:rPr lang="en-US" b="1" i="1" dirty="0"/>
              <a:t>Printer </a:t>
            </a:r>
            <a:r>
              <a:rPr lang="en-US" dirty="0"/>
              <a:t>with the following overloaded methods: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b="1" i="1" dirty="0"/>
              <a:t>Print(string message), Print(int number) and Print(string message, int count)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Call all of these methods in </a:t>
            </a:r>
            <a:r>
              <a:rPr lang="en-US" b="1" i="1" dirty="0" err="1"/>
              <a:t>Program.cs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49A0F-EFBD-DD63-831E-4D67D0302DF0}"/>
              </a:ext>
            </a:extLst>
          </p:cNvPr>
          <p:cNvSpPr txBox="1"/>
          <p:nvPr/>
        </p:nvSpPr>
        <p:spPr>
          <a:xfrm>
            <a:off x="9232900" y="2294546"/>
            <a:ext cx="1013996" cy="264219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53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282D5-E4B1-BFB5-B748-E5EEA688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697FDE-4DE0-DC3D-2E4D-2A5A59D1C5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98A33-7882-E82D-712B-DABFFADF5F88}"/>
              </a:ext>
            </a:extLst>
          </p:cNvPr>
          <p:cNvSpPr txBox="1"/>
          <p:nvPr/>
        </p:nvSpPr>
        <p:spPr>
          <a:xfrm>
            <a:off x="356288" y="611202"/>
            <a:ext cx="679570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NP" sz="3200" b="1" dirty="0"/>
              <a:t>Task 3 : </a:t>
            </a:r>
            <a:r>
              <a:rPr lang="en-US" sz="3200" b="1">
                <a:ea typeface="+mn-lt"/>
                <a:cs typeface="+mn-lt"/>
              </a:rPr>
              <a:t>Polymorphism [ 10 </a:t>
            </a:r>
            <a:r>
              <a:rPr lang="en-NP" sz="3200" b="1"/>
              <a:t>Minutes]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F42B44-1930-EB09-8C7B-B4F12910C9E5}"/>
              </a:ext>
            </a:extLst>
          </p:cNvPr>
          <p:cNvSpPr/>
          <p:nvPr/>
        </p:nvSpPr>
        <p:spPr>
          <a:xfrm>
            <a:off x="8828424" y="313496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695E0F2-3F91-DBF8-D333-894CE6ACE3EE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394BC-A0A6-68A4-969D-20F122047C81}"/>
              </a:ext>
            </a:extLst>
          </p:cNvPr>
          <p:cNvSpPr txBox="1"/>
          <p:nvPr/>
        </p:nvSpPr>
        <p:spPr>
          <a:xfrm>
            <a:off x="87163" y="1391394"/>
            <a:ext cx="8477249" cy="4622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>
                <a:ea typeface="+mn-lt"/>
                <a:cs typeface="+mn-lt"/>
              </a:rPr>
              <a:t>Create a class named </a:t>
            </a:r>
            <a:r>
              <a:rPr lang="en-US" b="1" dirty="0">
                <a:latin typeface="Aptos"/>
              </a:rPr>
              <a:t>Teacher</a:t>
            </a:r>
            <a:r>
              <a:rPr lang="en-US" b="1" dirty="0">
                <a:ea typeface="+mn-lt"/>
                <a:cs typeface="+mn-lt"/>
              </a:rPr>
              <a:t> with the following specifications:</a:t>
            </a:r>
            <a:endParaRPr lang="en-US" b="1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 property called </a:t>
            </a:r>
            <a:r>
              <a:rPr lang="en-US" b="1" dirty="0">
                <a:latin typeface="Aptos"/>
              </a:rPr>
              <a:t>Name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 method </a:t>
            </a:r>
            <a:r>
              <a:rPr lang="en-US" b="1" dirty="0">
                <a:latin typeface="Aptos"/>
              </a:rPr>
              <a:t>Teaching()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that prints </a:t>
            </a:r>
            <a:r>
              <a:rPr lang="en-US" b="1" dirty="0">
                <a:latin typeface="Aptos"/>
                <a:ea typeface="+mn-lt"/>
                <a:cs typeface="+mn-lt"/>
              </a:rPr>
              <a:t>"Teacher teaches in English"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Another method </a:t>
            </a:r>
            <a:r>
              <a:rPr lang="en-US" b="1" err="1">
                <a:latin typeface="Aptos"/>
                <a:ea typeface="+mn-lt"/>
                <a:cs typeface="+mn-lt"/>
              </a:rPr>
              <a:t>SalaryInfo</a:t>
            </a:r>
            <a:r>
              <a:rPr lang="en-US" b="1" dirty="0">
                <a:latin typeface="Aptos"/>
                <a:ea typeface="+mn-lt"/>
                <a:cs typeface="+mn-lt"/>
              </a:rPr>
              <a:t>()</a:t>
            </a:r>
            <a:r>
              <a:rPr lang="en-US" dirty="0">
                <a:ea typeface="+mn-lt"/>
                <a:cs typeface="+mn-lt"/>
              </a:rPr>
              <a:t> that </a:t>
            </a:r>
            <a:r>
              <a:rPr lang="en-US" b="1" dirty="0">
                <a:ea typeface="+mn-lt"/>
                <a:cs typeface="+mn-lt"/>
              </a:rPr>
              <a:t>cannot be overridden</a:t>
            </a:r>
            <a:r>
              <a:rPr lang="en-US" dirty="0">
                <a:ea typeface="+mn-lt"/>
                <a:cs typeface="+mn-lt"/>
              </a:rPr>
              <a:t> by any child classes.</a:t>
            </a:r>
            <a:endParaRPr lang="en-US" dirty="0"/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en-US" b="1" dirty="0">
                <a:ea typeface="+mn-lt"/>
                <a:cs typeface="+mn-lt"/>
              </a:rPr>
              <a:t>Then, create the following derived classes:</a:t>
            </a:r>
            <a:endParaRPr lang="en-US" b="1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b="1" dirty="0" err="1">
                <a:latin typeface="Aptos"/>
                <a:ea typeface="+mn-lt"/>
                <a:cs typeface="+mn-lt"/>
              </a:rPr>
              <a:t>NepaliTeacher</a:t>
            </a:r>
            <a:r>
              <a:rPr lang="en-US" dirty="0">
                <a:ea typeface="+mn-lt"/>
                <a:cs typeface="+mn-lt"/>
              </a:rPr>
              <a:t>: Inherits from </a:t>
            </a:r>
            <a:r>
              <a:rPr lang="en-US" dirty="0">
                <a:latin typeface="Aptos"/>
                <a:ea typeface="+mn-lt"/>
                <a:cs typeface="+mn-lt"/>
              </a:rPr>
              <a:t>Teacher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overrides</a:t>
            </a:r>
            <a:r>
              <a:rPr lang="en-US" dirty="0">
                <a:ea typeface="+mn-lt"/>
                <a:cs typeface="+mn-lt"/>
              </a:rPr>
              <a:t> the </a:t>
            </a:r>
            <a:r>
              <a:rPr lang="en-US" b="1" dirty="0">
                <a:latin typeface="Aptos"/>
                <a:ea typeface="+mn-lt"/>
                <a:cs typeface="+mn-lt"/>
              </a:rPr>
              <a:t>Teaching()</a:t>
            </a:r>
            <a:r>
              <a:rPr lang="en-US" dirty="0">
                <a:ea typeface="+mn-lt"/>
                <a:cs typeface="+mn-lt"/>
              </a:rPr>
              <a:t> method to provide its own behavior.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b="1" dirty="0" err="1">
                <a:latin typeface="Aptos"/>
                <a:ea typeface="+mn-lt"/>
                <a:cs typeface="+mn-lt"/>
              </a:rPr>
              <a:t>EnglishTeacher</a:t>
            </a:r>
            <a:r>
              <a:rPr lang="en-US" b="1" dirty="0">
                <a:ea typeface="+mn-lt"/>
                <a:cs typeface="+mn-lt"/>
              </a:rPr>
              <a:t>: </a:t>
            </a:r>
            <a:r>
              <a:rPr lang="en-US" dirty="0">
                <a:ea typeface="+mn-lt"/>
                <a:cs typeface="+mn-lt"/>
              </a:rPr>
              <a:t>Inherits from </a:t>
            </a:r>
            <a:r>
              <a:rPr lang="en-US" dirty="0">
                <a:latin typeface="Aptos"/>
              </a:rPr>
              <a:t>Teacher</a:t>
            </a:r>
            <a:r>
              <a:rPr lang="en-US" dirty="0">
                <a:ea typeface="+mn-lt"/>
                <a:cs typeface="+mn-lt"/>
              </a:rPr>
              <a:t> and demonstrates that it is </a:t>
            </a:r>
            <a:r>
              <a:rPr lang="en-US" b="1" dirty="0">
                <a:ea typeface="+mn-lt"/>
                <a:cs typeface="+mn-lt"/>
              </a:rPr>
              <a:t>not necessary</a:t>
            </a:r>
            <a:r>
              <a:rPr lang="en-US" dirty="0">
                <a:ea typeface="+mn-lt"/>
                <a:cs typeface="+mn-lt"/>
              </a:rPr>
              <a:t> to override the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>
                <a:latin typeface="Aptos"/>
              </a:rPr>
              <a:t>Teaching()</a:t>
            </a:r>
            <a:r>
              <a:rPr lang="en-US" dirty="0">
                <a:ea typeface="+mn-lt"/>
                <a:cs typeface="+mn-lt"/>
              </a:rPr>
              <a:t> method.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In </a:t>
            </a:r>
            <a:r>
              <a:rPr lang="en-US" b="1" dirty="0" err="1"/>
              <a:t>Program.cs</a:t>
            </a:r>
            <a:r>
              <a:rPr lang="en-US" b="1" dirty="0"/>
              <a:t>,</a:t>
            </a:r>
            <a:r>
              <a:rPr lang="en-US" dirty="0"/>
              <a:t> create object of derived classes and call all its methods.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E8947-5F4B-3FE2-F0B5-431C9D901530}"/>
              </a:ext>
            </a:extLst>
          </p:cNvPr>
          <p:cNvSpPr txBox="1"/>
          <p:nvPr/>
        </p:nvSpPr>
        <p:spPr>
          <a:xfrm>
            <a:off x="9232900" y="2294546"/>
            <a:ext cx="1013996" cy="264219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94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DA8B-42FA-0CA8-428B-AF889AFD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821251-917D-3081-3B11-32D09DC41C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9A695-879D-C549-743B-1F1EB82406BD}"/>
              </a:ext>
            </a:extLst>
          </p:cNvPr>
          <p:cNvSpPr txBox="1"/>
          <p:nvPr/>
        </p:nvSpPr>
        <p:spPr>
          <a:xfrm>
            <a:off x="356288" y="611202"/>
            <a:ext cx="625325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NP" sz="3200" b="1"/>
              <a:t>Task 4 : </a:t>
            </a:r>
            <a:r>
              <a:rPr lang="en-US" sz="3200" b="1">
                <a:ea typeface="+mn-lt"/>
                <a:cs typeface="+mn-lt"/>
              </a:rPr>
              <a:t>Abstraction [ 20 </a:t>
            </a:r>
            <a:r>
              <a:rPr lang="en-NP" sz="3200" b="1"/>
              <a:t>Minutes]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429021-7855-D81D-7459-63DBEA3916BA}"/>
              </a:ext>
            </a:extLst>
          </p:cNvPr>
          <p:cNvSpPr/>
          <p:nvPr/>
        </p:nvSpPr>
        <p:spPr>
          <a:xfrm>
            <a:off x="8828424" y="3465640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0114DB9D-30BF-9481-E020-681972E0E9F3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ECA42-DA83-42D1-55A0-9F5EC4F5FDB7}"/>
              </a:ext>
            </a:extLst>
          </p:cNvPr>
          <p:cNvSpPr txBox="1"/>
          <p:nvPr/>
        </p:nvSpPr>
        <p:spPr>
          <a:xfrm>
            <a:off x="170290" y="1571503"/>
            <a:ext cx="8477249" cy="3376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/>
              <a:t>Create an abstract class </a:t>
            </a:r>
            <a:r>
              <a:rPr lang="en-US" b="1" i="1"/>
              <a:t>Vehicle </a:t>
            </a:r>
            <a:r>
              <a:rPr lang="en-US"/>
              <a:t>and perform following tasks: 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/>
              <a:t>Create </a:t>
            </a:r>
            <a:r>
              <a:rPr lang="en-US" b="1"/>
              <a:t>abstract </a:t>
            </a:r>
            <a:r>
              <a:rPr lang="en-US"/>
              <a:t>method </a:t>
            </a:r>
            <a:r>
              <a:rPr lang="en-US" err="1"/>
              <a:t>method</a:t>
            </a:r>
            <a:r>
              <a:rPr lang="en-US"/>
              <a:t> </a:t>
            </a:r>
            <a:r>
              <a:rPr lang="en-US" b="1" i="1" err="1"/>
              <a:t>StartEngine</a:t>
            </a:r>
            <a:r>
              <a:rPr lang="en-US" b="1" i="1"/>
              <a:t>()</a:t>
            </a:r>
            <a:r>
              <a:rPr lang="en-US"/>
              <a:t> and </a:t>
            </a:r>
            <a:r>
              <a:rPr lang="en-US" b="1" i="1" err="1"/>
              <a:t>StopEngine</a:t>
            </a:r>
            <a:r>
              <a:rPr lang="en-US" b="1" i="1"/>
              <a:t>()</a:t>
            </a:r>
            <a:r>
              <a:rPr lang="en-US"/>
              <a:t>.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/>
              <a:t>Add a </a:t>
            </a:r>
            <a:r>
              <a:rPr lang="en-US" b="1"/>
              <a:t>concrete </a:t>
            </a:r>
            <a:r>
              <a:rPr lang="en-US"/>
              <a:t>method </a:t>
            </a:r>
            <a:r>
              <a:rPr lang="en-US" b="1" i="1"/>
              <a:t>Display()</a:t>
            </a:r>
            <a:r>
              <a:rPr lang="en-US"/>
              <a:t> which will print </a:t>
            </a:r>
            <a:r>
              <a:rPr lang="en-US" b="1" i="1"/>
              <a:t>"This is a vehicle"</a:t>
            </a:r>
            <a:r>
              <a:rPr lang="en-US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/>
              <a:t>Now create two </a:t>
            </a:r>
            <a:r>
              <a:rPr lang="en-US" b="1"/>
              <a:t>derived </a:t>
            </a:r>
            <a:r>
              <a:rPr lang="en-US"/>
              <a:t>classes </a:t>
            </a:r>
            <a:r>
              <a:rPr lang="en-US" b="1" i="1"/>
              <a:t>Car </a:t>
            </a:r>
            <a:r>
              <a:rPr lang="en-US"/>
              <a:t>and </a:t>
            </a:r>
            <a:r>
              <a:rPr lang="en-US" b="1" i="1"/>
              <a:t>Bike </a:t>
            </a:r>
            <a:r>
              <a:rPr lang="en-US"/>
              <a:t>and do the following: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/>
              <a:t>Implement both</a:t>
            </a:r>
            <a:r>
              <a:rPr lang="en-US" b="1" i="1"/>
              <a:t> </a:t>
            </a:r>
            <a:r>
              <a:rPr lang="en-US" b="1" i="1" err="1"/>
              <a:t>StartEngine</a:t>
            </a:r>
            <a:r>
              <a:rPr lang="en-US" b="1" i="1"/>
              <a:t>() </a:t>
            </a:r>
            <a:r>
              <a:rPr lang="en-US"/>
              <a:t>and </a:t>
            </a:r>
            <a:r>
              <a:rPr lang="en-US" b="1" i="1" err="1"/>
              <a:t>StopEngine</a:t>
            </a:r>
            <a:r>
              <a:rPr lang="en-US" b="1" i="1"/>
              <a:t>()</a:t>
            </a:r>
            <a:r>
              <a:rPr lang="en-US"/>
              <a:t> in both classes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/>
              <a:t>Inside the methods, </a:t>
            </a:r>
            <a:r>
              <a:rPr lang="en-US" b="1"/>
              <a:t>display a suitable message</a:t>
            </a:r>
            <a:r>
              <a:rPr lang="en-US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/>
              <a:t>Now in </a:t>
            </a:r>
            <a:r>
              <a:rPr lang="en-US" b="1" i="1" err="1"/>
              <a:t>Program.cs</a:t>
            </a:r>
            <a:r>
              <a:rPr lang="en-US"/>
              <a:t>, create an object of both </a:t>
            </a:r>
            <a:r>
              <a:rPr lang="en-US" b="1" i="1"/>
              <a:t>Car </a:t>
            </a:r>
            <a:r>
              <a:rPr lang="en-US"/>
              <a:t>and </a:t>
            </a:r>
            <a:r>
              <a:rPr lang="en-US" b="1" i="1"/>
              <a:t>Bike</a:t>
            </a:r>
            <a:r>
              <a:rPr lang="en-US"/>
              <a:t>.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/>
              <a:t>Then call </a:t>
            </a:r>
            <a:r>
              <a:rPr lang="en-US" b="1"/>
              <a:t>Display()</a:t>
            </a:r>
            <a:r>
              <a:rPr lang="en-US"/>
              <a:t>,</a:t>
            </a:r>
            <a:r>
              <a:rPr lang="en-US" b="1"/>
              <a:t> </a:t>
            </a:r>
            <a:r>
              <a:rPr lang="en-US" b="1" err="1"/>
              <a:t>StartEngine</a:t>
            </a:r>
            <a:r>
              <a:rPr lang="en-US" b="1"/>
              <a:t>() </a:t>
            </a:r>
            <a:r>
              <a:rPr lang="en-US"/>
              <a:t>and </a:t>
            </a:r>
            <a:r>
              <a:rPr lang="en-US" b="1" err="1"/>
              <a:t>StopEngine</a:t>
            </a:r>
            <a:r>
              <a:rPr lang="en-US" b="1"/>
              <a:t>()</a:t>
            </a:r>
            <a:r>
              <a:rPr lang="en-US"/>
              <a:t> using both objects.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E5C62A-5502-02AF-9F90-6E38F1D5D51C}"/>
              </a:ext>
            </a:extLst>
          </p:cNvPr>
          <p:cNvSpPr txBox="1"/>
          <p:nvPr/>
        </p:nvSpPr>
        <p:spPr>
          <a:xfrm>
            <a:off x="9232900" y="2294546"/>
            <a:ext cx="1013996" cy="264219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04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AB37-83D3-F5EE-4D30-53112DDDD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BD6381-CAAB-F87C-E848-0189CB1ADB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848DC-F446-4362-5E5C-1F2E7082194B}"/>
              </a:ext>
            </a:extLst>
          </p:cNvPr>
          <p:cNvSpPr txBox="1"/>
          <p:nvPr/>
        </p:nvSpPr>
        <p:spPr>
          <a:xfrm>
            <a:off x="356288" y="611202"/>
            <a:ext cx="4936801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NP" sz="3200" b="1"/>
              <a:t>Task 5 : OOP  [20 Minutes]</a:t>
            </a:r>
            <a:endParaRPr lang="en-US" sz="32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659A93-2DEA-BC0C-77B2-CECAC1EAA461}"/>
              </a:ext>
            </a:extLst>
          </p:cNvPr>
          <p:cNvSpPr/>
          <p:nvPr/>
        </p:nvSpPr>
        <p:spPr>
          <a:xfrm>
            <a:off x="8785292" y="383945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86ED5E9-9E96-AC8A-2BF1-E06FF449B11A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8D81C-0A2F-25A6-AC5B-EC32B5F159F3}"/>
              </a:ext>
            </a:extLst>
          </p:cNvPr>
          <p:cNvSpPr txBox="1"/>
          <p:nvPr/>
        </p:nvSpPr>
        <p:spPr>
          <a:xfrm>
            <a:off x="170290" y="1355843"/>
            <a:ext cx="8477249" cy="3514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Abstract Class: </a:t>
            </a:r>
            <a:r>
              <a:rPr lang="en-US" b="1" err="1"/>
              <a:t>ElectronicDevice</a:t>
            </a:r>
            <a:endParaRPr lang="en-US" b="1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Create an abstract class </a:t>
            </a:r>
            <a:r>
              <a:rPr lang="en-US" dirty="0" err="1"/>
              <a:t>ElectronicDevice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Add private fields </a:t>
            </a:r>
            <a:r>
              <a:rPr lang="en-US" b="1" dirty="0"/>
              <a:t>brand and price.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Provide public properties Brand and Price to access these fields (implement encapsulation).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Add an abstract method </a:t>
            </a:r>
            <a:r>
              <a:rPr lang="en-US" dirty="0" err="1"/>
              <a:t>ShowInfo</a:t>
            </a:r>
            <a:r>
              <a:rPr lang="en-US" dirty="0"/>
              <a:t>() to display device information.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Add a constructor to initialize Brand and Price.</a:t>
            </a:r>
          </a:p>
          <a:p>
            <a:pPr marL="342900" indent="-342900">
              <a:buFontTx/>
              <a:buAutoNum type="arabicPeriod"/>
            </a:pPr>
            <a:endParaRPr lang="en-US" b="1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2A539-D484-BDFE-6DC6-2690EF59A6C1}"/>
              </a:ext>
            </a:extLst>
          </p:cNvPr>
          <p:cNvSpPr txBox="1"/>
          <p:nvPr/>
        </p:nvSpPr>
        <p:spPr>
          <a:xfrm>
            <a:off x="9232900" y="2294546"/>
            <a:ext cx="1013996" cy="264219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57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A707-AF3A-E159-ABBE-66E590FB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C00F0A-1BB7-ED0B-4EA9-A1EAB549A5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AD3FB-481A-4107-05E5-7743D004094F}"/>
              </a:ext>
            </a:extLst>
          </p:cNvPr>
          <p:cNvSpPr txBox="1"/>
          <p:nvPr/>
        </p:nvSpPr>
        <p:spPr>
          <a:xfrm>
            <a:off x="356288" y="611202"/>
            <a:ext cx="263206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 b="1" dirty="0"/>
              <a:t>Task 5 : OOP  </a:t>
            </a:r>
            <a:endParaRPr lang="en-US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FB4A592-3481-F3BB-F9EF-FF98367704A4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29FA7-E1C4-95D7-1A77-B5B5755F8DA9}"/>
              </a:ext>
            </a:extLst>
          </p:cNvPr>
          <p:cNvSpPr txBox="1"/>
          <p:nvPr/>
        </p:nvSpPr>
        <p:spPr>
          <a:xfrm>
            <a:off x="170290" y="1355843"/>
            <a:ext cx="8477249" cy="5453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2. Derived Classes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b="1" dirty="0"/>
              <a:t>Laptop</a:t>
            </a:r>
          </a:p>
          <a:p>
            <a:pPr marL="1200150" lvl="2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Inherit from </a:t>
            </a:r>
            <a:r>
              <a:rPr lang="en-US" b="1" err="1"/>
              <a:t>ElectronicDevice</a:t>
            </a:r>
            <a:r>
              <a:rPr lang="en-US" dirty="0"/>
              <a:t>.</a:t>
            </a:r>
          </a:p>
          <a:p>
            <a:pPr marL="1200150" lvl="2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Add an extra method </a:t>
            </a:r>
            <a:r>
              <a:rPr lang="en-US" b="1" err="1"/>
              <a:t>TurnOnBattery</a:t>
            </a:r>
            <a:r>
              <a:rPr lang="en-US" b="1" dirty="0"/>
              <a:t>()</a:t>
            </a:r>
            <a:r>
              <a:rPr lang="en-US" dirty="0"/>
              <a:t> to simulate turning on the laptop battery.</a:t>
            </a:r>
          </a:p>
          <a:p>
            <a:pPr marL="1200150" lvl="2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Override the </a:t>
            </a:r>
            <a:r>
              <a:rPr lang="en-US" b="1" err="1"/>
              <a:t>ShowInfo</a:t>
            </a:r>
            <a:r>
              <a:rPr lang="en-US" b="1" dirty="0"/>
              <a:t>()</a:t>
            </a:r>
            <a:r>
              <a:rPr lang="en-US" dirty="0"/>
              <a:t> method to display laptop details.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b="1" dirty="0"/>
              <a:t>Smartphone</a:t>
            </a:r>
          </a:p>
          <a:p>
            <a:pPr marL="1200150" lvl="2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Inherit from </a:t>
            </a:r>
            <a:r>
              <a:rPr lang="en-US" b="1" err="1"/>
              <a:t>ElectronicDevice</a:t>
            </a:r>
            <a:r>
              <a:rPr lang="en-US" b="1" dirty="0"/>
              <a:t>.</a:t>
            </a:r>
          </a:p>
          <a:p>
            <a:pPr marL="1200150" lvl="2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Add an extra method </a:t>
            </a:r>
            <a:r>
              <a:rPr lang="en-US" b="1" err="1"/>
              <a:t>EnableCamera</a:t>
            </a:r>
            <a:r>
              <a:rPr lang="en-US" b="1" dirty="0"/>
              <a:t>()</a:t>
            </a:r>
            <a:r>
              <a:rPr lang="en-US" dirty="0"/>
              <a:t> to simulate enabling the smartphone camera.</a:t>
            </a:r>
          </a:p>
          <a:p>
            <a:pPr marL="1200150" lvl="2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Override the </a:t>
            </a:r>
            <a:r>
              <a:rPr lang="en-US" b="1" err="1"/>
              <a:t>ShowInfo</a:t>
            </a:r>
            <a:r>
              <a:rPr lang="en-US" b="1" dirty="0"/>
              <a:t>()</a:t>
            </a:r>
            <a:r>
              <a:rPr lang="en-US" dirty="0"/>
              <a:t> method to display smartphone details.</a:t>
            </a:r>
          </a:p>
          <a:p>
            <a:pPr marL="342900" indent="-342900">
              <a:buFontTx/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84EB1-7D9C-A6D0-D092-82C280A3FEAE}"/>
              </a:ext>
            </a:extLst>
          </p:cNvPr>
          <p:cNvSpPr/>
          <p:nvPr/>
        </p:nvSpPr>
        <p:spPr>
          <a:xfrm>
            <a:off x="8785292" y="383945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F096DA-B94D-800D-E847-62C404ADE282}"/>
              </a:ext>
            </a:extLst>
          </p:cNvPr>
          <p:cNvSpPr txBox="1"/>
          <p:nvPr/>
        </p:nvSpPr>
        <p:spPr>
          <a:xfrm>
            <a:off x="9232900" y="2294546"/>
            <a:ext cx="1013996" cy="264219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772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05875-743F-E2A4-5CDD-EDC1A3A0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665240-77EA-24E0-4071-5F656C71D1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3C23E-6D02-31E0-3120-18D9FF6227DE}"/>
              </a:ext>
            </a:extLst>
          </p:cNvPr>
          <p:cNvSpPr txBox="1"/>
          <p:nvPr/>
        </p:nvSpPr>
        <p:spPr>
          <a:xfrm>
            <a:off x="356288" y="611202"/>
            <a:ext cx="263206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 b="1" dirty="0"/>
              <a:t>Task 5 : OOP </a:t>
            </a:r>
            <a:endParaRPr lang="en-US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2E37A7AA-73CD-12B0-5903-8445E17CA29B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04A58-0EC3-E19C-0DAF-5F3F7C2231E3}"/>
              </a:ext>
            </a:extLst>
          </p:cNvPr>
          <p:cNvSpPr txBox="1"/>
          <p:nvPr/>
        </p:nvSpPr>
        <p:spPr>
          <a:xfrm>
            <a:off x="170290" y="1355843"/>
            <a:ext cx="8477249" cy="5176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3</a:t>
            </a:r>
            <a:r>
              <a:rPr lang="en-US" dirty="0"/>
              <a:t>. </a:t>
            </a:r>
            <a:r>
              <a:rPr lang="en-US" b="1" dirty="0"/>
              <a:t>Create Store Class: </a:t>
            </a:r>
            <a:r>
              <a:rPr lang="en-US" b="1" dirty="0" err="1"/>
              <a:t>ElectronicsStore</a:t>
            </a:r>
            <a:endParaRPr lang="en-US" b="1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Create a </a:t>
            </a:r>
            <a:r>
              <a:rPr lang="en-US" b="1" dirty="0"/>
              <a:t>class </a:t>
            </a:r>
            <a:r>
              <a:rPr lang="en-US" b="1" dirty="0" err="1"/>
              <a:t>ElectronicsStore</a:t>
            </a:r>
            <a:r>
              <a:rPr lang="en-US" b="1" dirty="0"/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Maintain a </a:t>
            </a:r>
            <a:r>
              <a:rPr lang="en-US" b="1" dirty="0"/>
              <a:t>list </a:t>
            </a:r>
            <a:r>
              <a:rPr lang="en-US" dirty="0"/>
              <a:t>of ElectronicDevice objects.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Implement the following methods: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b="1" dirty="0" err="1"/>
              <a:t>AddDevice</a:t>
            </a:r>
            <a:r>
              <a:rPr lang="en-US" b="1" dirty="0"/>
              <a:t>(</a:t>
            </a:r>
            <a:r>
              <a:rPr lang="en-US" b="1" dirty="0" err="1"/>
              <a:t>ElectronicDevice</a:t>
            </a:r>
            <a:r>
              <a:rPr lang="en-US" b="1" dirty="0"/>
              <a:t> device)</a:t>
            </a:r>
            <a:r>
              <a:rPr lang="en-US" dirty="0"/>
              <a:t> → to add a device to the store.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b="1" err="1"/>
              <a:t>RemoveDevice</a:t>
            </a:r>
            <a:r>
              <a:rPr lang="en-US" b="1" dirty="0"/>
              <a:t>(</a:t>
            </a:r>
            <a:r>
              <a:rPr lang="en-US" b="1" err="1"/>
              <a:t>ElectronicDevice</a:t>
            </a:r>
            <a:r>
              <a:rPr lang="en-US" b="1" dirty="0"/>
              <a:t> device)</a:t>
            </a:r>
            <a:r>
              <a:rPr lang="en-US" dirty="0"/>
              <a:t> → to remove a device from the store.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b="1" dirty="0"/>
              <a:t>ShowAllDeviceDetails()</a:t>
            </a:r>
            <a:r>
              <a:rPr lang="en-US" dirty="0"/>
              <a:t> → to display information of all devices in the store.</a:t>
            </a:r>
            <a:br>
              <a:rPr lang="en-US" dirty="0"/>
            </a:br>
            <a:r>
              <a:rPr lang="en-US" dirty="0"/>
              <a:t> </a:t>
            </a:r>
            <a:r>
              <a:rPr lang="en-US" i="1" dirty="0"/>
              <a:t>(Hint: Call </a:t>
            </a:r>
            <a:r>
              <a:rPr lang="en-US" i="1" dirty="0" err="1"/>
              <a:t>ShowInfo</a:t>
            </a:r>
            <a:r>
              <a:rPr lang="en-US" i="1" dirty="0"/>
              <a:t>() for each device.) 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i="1" dirty="0"/>
              <a:t> </a:t>
            </a:r>
            <a:r>
              <a:rPr lang="en-US" b="1" dirty="0"/>
              <a:t>Downcast and call child specific methods too. </a:t>
            </a:r>
          </a:p>
          <a:p>
            <a:pPr marL="342900" indent="-342900">
              <a:buFont typeface="Arial"/>
              <a:buChar char="•"/>
            </a:pPr>
            <a:endParaRPr lang="en-US" b="1" dirty="0"/>
          </a:p>
          <a:p>
            <a:pPr marL="342900" indent="-342900">
              <a:buFont typeface="Arial"/>
              <a:buChar char="•"/>
            </a:pPr>
            <a:endParaRPr lang="en-US" b="1" dirty="0"/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DEA31A-C08F-77E3-0D78-600022A74D81}"/>
              </a:ext>
            </a:extLst>
          </p:cNvPr>
          <p:cNvSpPr/>
          <p:nvPr/>
        </p:nvSpPr>
        <p:spPr>
          <a:xfrm>
            <a:off x="8785292" y="383945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F49932-FE96-18AF-B36B-8D357F19B36E}"/>
              </a:ext>
            </a:extLst>
          </p:cNvPr>
          <p:cNvSpPr txBox="1"/>
          <p:nvPr/>
        </p:nvSpPr>
        <p:spPr>
          <a:xfrm>
            <a:off x="9232900" y="2294546"/>
            <a:ext cx="1013996" cy="264219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64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53F22-5ACF-CC36-D825-EF7F3AC6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917AE3-1E8E-AE7A-36D2-A233C09643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1F1CF-9457-43BC-E64F-99992EAA36FF}"/>
              </a:ext>
            </a:extLst>
          </p:cNvPr>
          <p:cNvSpPr txBox="1"/>
          <p:nvPr/>
        </p:nvSpPr>
        <p:spPr>
          <a:xfrm>
            <a:off x="356288" y="611202"/>
            <a:ext cx="263206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 b="1" dirty="0"/>
              <a:t>Task 5 : OOP </a:t>
            </a:r>
            <a:endParaRPr lang="en-US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22FD17A9-55C6-83D5-8E5F-167FC3164650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7E382-B46A-79DB-1CBB-CFE47E14385E}"/>
              </a:ext>
            </a:extLst>
          </p:cNvPr>
          <p:cNvSpPr txBox="1"/>
          <p:nvPr/>
        </p:nvSpPr>
        <p:spPr>
          <a:xfrm>
            <a:off x="170290" y="1355843"/>
            <a:ext cx="8477249" cy="2545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4. Main Method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Create a </a:t>
            </a:r>
            <a:r>
              <a:rPr lang="en-US" b="1" err="1">
                <a:latin typeface="Aptos"/>
              </a:rPr>
              <a:t>ElectronicsStore</a:t>
            </a:r>
            <a:r>
              <a:rPr lang="en-US" b="1" dirty="0">
                <a:latin typeface="Aptos"/>
              </a:rPr>
              <a:t> </a:t>
            </a:r>
            <a:r>
              <a:rPr lang="en-US" dirty="0">
                <a:latin typeface="Aptos"/>
              </a:rPr>
              <a:t>object</a:t>
            </a:r>
            <a:endParaRPr lang="en-US" dirty="0" err="1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Create </a:t>
            </a:r>
            <a:r>
              <a:rPr lang="en-US" dirty="0">
                <a:latin typeface="Aptos"/>
              </a:rPr>
              <a:t> </a:t>
            </a:r>
            <a:r>
              <a:rPr lang="en-US" b="1" dirty="0">
                <a:latin typeface="Aptos"/>
              </a:rPr>
              <a:t>Laptop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and </a:t>
            </a:r>
            <a:r>
              <a:rPr lang="en-US" b="1" dirty="0"/>
              <a:t>Smartphone</a:t>
            </a:r>
            <a:r>
              <a:rPr lang="en-US" b="1" dirty="0">
                <a:ea typeface="+mn-lt"/>
                <a:cs typeface="+mn-lt"/>
              </a:rPr>
              <a:t>  </a:t>
            </a:r>
            <a:r>
              <a:rPr lang="en-US" dirty="0">
                <a:ea typeface="+mn-lt"/>
                <a:cs typeface="+mn-lt"/>
              </a:rPr>
              <a:t>objects with </a:t>
            </a:r>
            <a:r>
              <a:rPr lang="en-US" b="1" dirty="0">
                <a:ea typeface="+mn-lt"/>
                <a:cs typeface="+mn-lt"/>
              </a:rPr>
              <a:t>brand and price</a:t>
            </a:r>
            <a:endParaRPr lang="en-US" b="1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Add them to the store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Call </a:t>
            </a:r>
            <a:r>
              <a:rPr lang="en-US" b="1" dirty="0" err="1">
                <a:latin typeface="Aptos"/>
              </a:rPr>
              <a:t>ShowAllDeviceDetails</a:t>
            </a:r>
            <a:r>
              <a:rPr lang="en-US" b="1" dirty="0">
                <a:latin typeface="Aptos"/>
              </a:rPr>
              <a:t>()</a:t>
            </a:r>
            <a:r>
              <a:rPr lang="en-US" dirty="0">
                <a:ea typeface="+mn-lt"/>
                <a:cs typeface="+mn-lt"/>
              </a:rPr>
              <a:t> to display info and child-specific behavior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10E37-CBEF-3CFE-81A1-DACBFB7833B8}"/>
              </a:ext>
            </a:extLst>
          </p:cNvPr>
          <p:cNvSpPr/>
          <p:nvPr/>
        </p:nvSpPr>
        <p:spPr>
          <a:xfrm>
            <a:off x="8785292" y="3839451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39F401-E0B6-08EE-5875-B0C9C5140777}"/>
              </a:ext>
            </a:extLst>
          </p:cNvPr>
          <p:cNvSpPr txBox="1"/>
          <p:nvPr/>
        </p:nvSpPr>
        <p:spPr>
          <a:xfrm>
            <a:off x="9232900" y="2294546"/>
            <a:ext cx="1013996" cy="264219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186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Thaper, Nirmal</dc:creator>
  <cp:revision>180</cp:revision>
  <dcterms:created xsi:type="dcterms:W3CDTF">2025-06-03T06:25:01Z</dcterms:created>
  <dcterms:modified xsi:type="dcterms:W3CDTF">2025-11-20T11:21:45Z</dcterms:modified>
</cp:coreProperties>
</file>