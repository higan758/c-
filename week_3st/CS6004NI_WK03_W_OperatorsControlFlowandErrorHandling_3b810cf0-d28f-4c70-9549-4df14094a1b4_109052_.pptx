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58" r:id="rId4"/>
    <p:sldId id="261" r:id="rId5"/>
    <p:sldId id="262" r:id="rId6"/>
    <p:sldId id="263" r:id="rId7"/>
    <p:sldId id="259" r:id="rId8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6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48B"/>
    <a:srgbClr val="231F1F"/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FD84D-0725-050D-0F1A-83C9C35051CC}" v="123" dt="2025-11-06T06:11:04.481"/>
    <p1510:client id="{3C437458-8844-D5DC-E240-B6D8854D9C18}" v="1753" dt="2025-11-05T09:04:32.958"/>
    <p1510:client id="{BB7493E8-4C3F-4E9D-1D94-66135DE0574A}" v="976" dt="2025-11-06T02:50:59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90" y="72"/>
      </p:cViewPr>
      <p:guideLst>
        <p:guide pos="279"/>
        <p:guide orient="horz" pos="6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80286-04EA-B742-ACD3-5BD4DE88E91B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60783-BDB1-7240-BA8B-D15AA2A29CE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081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2985-7039-A1E3-1089-E72739A93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004E8-7A4E-5CC1-CE4E-0DCA88F5D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2008-43FB-B244-ACFC-397DCBDC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F013-D4EF-FD20-DB9F-883E4125B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C123F-6F22-D6F4-D3B2-927E1DB4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22105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C7D6-2317-46C4-6DEC-0EFBD8C2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13945-46B5-3E7F-2D09-4C1F813E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00609-5AAB-A669-3247-051CE441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CD165-0430-06E1-0D34-167CCC001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7FF71-4DFF-DA9F-6165-519DFA88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3260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1367-B5A4-A887-AE8E-4286C612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84BA6-517C-8221-AFCE-599C4FD84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E02D2-66E9-07D2-3687-958A45A6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083C4-F5C8-6FF4-AE08-54E6E9F6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1132A-E661-0FB1-7206-261912F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9058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3A10-61AE-2244-A046-68F1EBAD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96DFA-5B8B-31FF-0FA5-826AF3AFB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6B10-25D7-05D3-C79E-982491A75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2DE00-CC9D-6FA8-3917-5F2FFF73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DEC2F-F84B-909D-BFBC-595C7364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74AEB-F577-AF08-6E76-DE1BD54D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1257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117C-1436-809B-4DE0-65512C63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7D5B6-46AF-73FD-D9A0-73B8F1AB2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7B3C0-4C41-6608-DEC5-0340995A7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3AF01-8B00-2C72-293C-9C6E7EB3C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E5EAF-95AF-66C8-54EC-79C6EAB39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9C945-3072-5094-AA82-651B8390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096A9-F278-FBB6-FC70-A1D94B1B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BAFCD-8712-CC27-E716-05164E0E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2715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4F68-EE63-7DD0-778E-8387F64F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94787-1DAD-C29F-0C21-94D01C02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CE759-B514-2DD7-95DB-E57A6EAE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DFAE6-C18C-20F2-F212-D372DF85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790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1CE60-ABF7-237D-D8CE-2B000B15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EC592-19B3-B690-A693-2D45EB2B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29433-A8DD-5E4F-B1F8-FD58AD0E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7004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0A73-F493-3ED6-8964-CDCFD275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5796-EE69-A7E2-7B47-560E905E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A7A76-2E04-B3AE-BC44-9E73AD8BB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98809-6662-FD6A-A33B-3D620A33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C7975-48CB-1CB0-0BC7-E96B8480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46C7-4847-DEED-485F-AD06CA08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5713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55DA-D92F-EB9F-B661-840A189D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E7B34-372E-A6F5-193F-A1ACEA8AC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17139-4351-35A5-2540-C7821813D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BEB9D-7AF2-3AE5-A299-C2DACC72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B8C82-49AA-CCD1-BC98-1C63DD119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F9BF9-4269-1F28-6873-38307C8CC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219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3F9E-6AEF-74B1-9033-EBE41F4C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5130-BDBC-1FDC-6066-F717845AC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59BC-5AB4-4EEA-B1F0-60A5C21E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A3EE-5B72-A4E7-F574-A21A878B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6B763-BB55-67C4-0FCF-614C5FDE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6053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9B376-3F65-14CC-0EF9-55D69DE78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3D056-9343-E3BA-F317-6F217A910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7994-EAFA-37ED-0F38-80F86E8F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75FED-EEE4-DB18-06E7-B1ADC5E2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8A4F8-5786-1CAA-6892-A3CC2EB8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6345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15B2A-0AA2-747C-5E0D-D3F15EB96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EF4FA-D97A-A2F5-CE77-B29AD3936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AB9F-F17B-9F0A-659E-4085463D6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FCC1-3733-E431-1970-01FD22C50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ADD442A-ED07-A004-1832-35515ADFF4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59" y="6273361"/>
            <a:ext cx="2210279" cy="4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60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F3E18B-EBBC-38D4-C8D8-2DC47C4CE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384503"/>
            <a:ext cx="694267" cy="4064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531D1663-6115-0A87-7668-05D2C53BB546}"/>
              </a:ext>
            </a:extLst>
          </p:cNvPr>
          <p:cNvSpPr txBox="1"/>
          <p:nvPr/>
        </p:nvSpPr>
        <p:spPr>
          <a:xfrm>
            <a:off x="1763520" y="1690640"/>
            <a:ext cx="8664959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sz="5400" b="1" i="0" u="none" strike="noStrike" dirty="0">
                <a:solidFill>
                  <a:srgbClr val="0B3041"/>
                </a:solidFill>
                <a:effectLst/>
                <a:latin typeface="Calibri"/>
                <a:ea typeface="Calibri"/>
                <a:cs typeface="Calibri"/>
              </a:rPr>
              <a:t>Week </a:t>
            </a:r>
            <a:r>
              <a:rPr lang="en-US" sz="5400" b="1" dirty="0">
                <a:solidFill>
                  <a:srgbClr val="0B3041"/>
                </a:solidFill>
                <a:latin typeface="Calibri"/>
                <a:ea typeface="Calibri"/>
                <a:cs typeface="Calibri"/>
              </a:rPr>
              <a:t>3 </a:t>
            </a:r>
            <a:r>
              <a:rPr lang="en-US" sz="5400" b="1" i="0" u="none" strike="noStrike" dirty="0">
                <a:solidFill>
                  <a:srgbClr val="0B3041"/>
                </a:solidFill>
                <a:effectLst/>
                <a:latin typeface="Calibri"/>
                <a:ea typeface="Calibri"/>
                <a:cs typeface="Calibri"/>
              </a:rPr>
              <a:t>- Workshop</a:t>
            </a:r>
            <a:r>
              <a:rPr lang="en-US" sz="5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​</a:t>
            </a:r>
          </a:p>
          <a:p>
            <a:pPr algn="ctr" rtl="0" fontAlgn="base">
              <a:buNone/>
            </a:pPr>
            <a:r>
              <a:rPr lang="en-US" sz="5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​</a:t>
            </a:r>
          </a:p>
          <a:p>
            <a:pPr algn="ctr" fontAlgn="base"/>
            <a:r>
              <a:rPr lang="en-US" sz="5400" b="1" dirty="0">
                <a:solidFill>
                  <a:srgbClr val="0B3041"/>
                </a:solidFill>
                <a:latin typeface="Calibri"/>
                <a:ea typeface="Calibri"/>
                <a:cs typeface="Calibri"/>
              </a:rPr>
              <a:t>Operators, Control Flow &amp; Exception Handling</a:t>
            </a:r>
            <a:r>
              <a:rPr lang="en-US" sz="5400" b="1" i="0" u="none" strike="noStrike" dirty="0">
                <a:solidFill>
                  <a:srgbClr val="0B3041"/>
                </a:solidFill>
                <a:effectLst/>
                <a:latin typeface="Calibri"/>
                <a:ea typeface="Calibri"/>
                <a:cs typeface="Calibri"/>
              </a:rPr>
              <a:t> </a:t>
            </a:r>
            <a:r>
              <a:rPr lang="en-US" sz="5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0AB6-95B1-E71E-F1B5-E47208DD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FBB5E1-C38B-815C-5FEC-DC70D6E9E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E9848C-A2FF-8F7C-647C-15761D36686F}"/>
              </a:ext>
            </a:extLst>
          </p:cNvPr>
          <p:cNvSpPr/>
          <p:nvPr/>
        </p:nvSpPr>
        <p:spPr>
          <a:xfrm>
            <a:off x="8913092" y="243675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22A23FB3-2397-21A3-5827-A694BCA432FA}"/>
              </a:ext>
            </a:extLst>
          </p:cNvPr>
          <p:cNvSpPr txBox="1">
            <a:spLocks/>
          </p:cNvSpPr>
          <p:nvPr/>
        </p:nvSpPr>
        <p:spPr>
          <a:xfrm>
            <a:off x="156162" y="1347357"/>
            <a:ext cx="8077632" cy="47163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en-US" sz="18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Create the following methods inside the </a:t>
            </a:r>
            <a:r>
              <a:rPr lang="en-US" sz="1800" b="1" dirty="0">
                <a:solidFill>
                  <a:srgbClr val="000000"/>
                </a:solidFill>
                <a:latin typeface="Aptos"/>
              </a:rPr>
              <a:t>Operators</a:t>
            </a:r>
            <a:r>
              <a:rPr lang="en-US" sz="18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class:</a:t>
            </a:r>
            <a:endParaRPr lang="en-US" sz="1800" dirty="0">
              <a:latin typeface="Aptos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ptos"/>
              </a:rPr>
              <a:t>Add(int a, int b)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— prints the sum of two numbers</a:t>
            </a:r>
            <a:endParaRPr lang="en-US" sz="1800" dirty="0">
              <a:latin typeface="Aptos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ptos"/>
              </a:rPr>
              <a:t>Subtract(int a, int b)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— prints the difference</a:t>
            </a:r>
            <a:endParaRPr lang="en-US" sz="1800" dirty="0">
              <a:latin typeface="Aptos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ptos"/>
              </a:rPr>
              <a:t>Multiply(int a, int b)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— prints the product</a:t>
            </a:r>
            <a:endParaRPr lang="en-US" sz="1800" dirty="0">
              <a:latin typeface="Aptos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ptos"/>
              </a:rPr>
              <a:t>Divide(int a, int b)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— prints the result of division</a:t>
            </a:r>
            <a:endParaRPr lang="en-US" sz="1800" dirty="0">
              <a:latin typeface="Aptos"/>
            </a:endParaRP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en-US" sz="18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Create another method inside the same class:</a:t>
            </a:r>
            <a:endParaRPr lang="en-US" sz="1800" dirty="0">
              <a:latin typeface="Aptos"/>
            </a:endParaRPr>
          </a:p>
          <a:p>
            <a:pPr marL="742950" lvl="1" indent="-285750" algn="l">
              <a:lnSpc>
                <a:spcPct val="170000"/>
              </a:lnSpc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Aptos"/>
              </a:rPr>
              <a:t>OddEvenFinder</a:t>
            </a:r>
            <a:r>
              <a:rPr lang="en-US" sz="1800" dirty="0">
                <a:solidFill>
                  <a:srgbClr val="000000"/>
                </a:solidFill>
                <a:latin typeface="Aptos"/>
              </a:rPr>
              <a:t>(int number)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— determines whether the given number is </a:t>
            </a:r>
            <a:r>
              <a:rPr lang="en-US" sz="18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Odd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or </a:t>
            </a:r>
            <a:r>
              <a:rPr lang="en-US" sz="18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Even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using the </a:t>
            </a:r>
            <a:r>
              <a:rPr lang="en-US" sz="18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Ternary Operator (? :)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and prints the message </a:t>
            </a:r>
            <a:r>
              <a:rPr lang="en-US" sz="1800" dirty="0">
                <a:solidFill>
                  <a:srgbClr val="000000"/>
                </a:solidFill>
                <a:latin typeface="Aptos"/>
              </a:rPr>
              <a:t>"Even Number"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or </a:t>
            </a:r>
            <a:r>
              <a:rPr lang="en-US" sz="1800" dirty="0">
                <a:solidFill>
                  <a:srgbClr val="000000"/>
                </a:solidFill>
                <a:latin typeface="Aptos"/>
              </a:rPr>
              <a:t>"Odd Number"</a:t>
            </a:r>
            <a:r>
              <a:rPr lang="en-US" sz="1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.</a:t>
            </a:r>
            <a:endParaRPr lang="en-US" sz="1800" b="1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285750" indent="-342900" algn="l">
              <a:lnSpc>
                <a:spcPct val="170000"/>
              </a:lnSpc>
              <a:buAutoNum type="arabicPeriod"/>
            </a:pPr>
            <a:r>
              <a:rPr lang="en-US" sz="18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In </a:t>
            </a:r>
            <a:r>
              <a:rPr lang="en-US" sz="1800" b="1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Program</a:t>
            </a:r>
            <a:r>
              <a:rPr lang="en-US" sz="1800" b="1" dirty="0" err="1">
                <a:solidFill>
                  <a:srgbClr val="000000"/>
                </a:solidFill>
                <a:latin typeface="Aptos"/>
              </a:rPr>
              <a:t>.cs</a:t>
            </a:r>
            <a:r>
              <a:rPr lang="en-US" sz="1800" b="1" dirty="0">
                <a:solidFill>
                  <a:srgbClr val="000000"/>
                </a:solidFill>
                <a:latin typeface="Aptos"/>
              </a:rPr>
              <a:t>: </a:t>
            </a:r>
            <a:endParaRPr lang="en-US" sz="1800" b="1" dirty="0">
              <a:latin typeface="Aptos"/>
              <a:ea typeface="+mn-lt"/>
              <a:cs typeface="+mn-lt"/>
            </a:endParaRPr>
          </a:p>
          <a:p>
            <a:pPr marL="742950" lvl="1" indent="-285750" algn="l">
              <a:lnSpc>
                <a:spcPct val="100000"/>
              </a:lnSpc>
              <a:buChar char="•"/>
            </a:pPr>
            <a:r>
              <a:rPr lang="en-US" sz="1800" dirty="0">
                <a:latin typeface="Aptos"/>
                <a:ea typeface="+mn-lt"/>
                <a:cs typeface="+mn-lt"/>
              </a:rPr>
              <a:t>Call all the methods of the Operators class.  </a:t>
            </a:r>
          </a:p>
          <a:p>
            <a:pPr marL="342900" indent="-342900" algn="l">
              <a:lnSpc>
                <a:spcPct val="170000"/>
              </a:lnSpc>
              <a:buAutoNum type="arabicPeriod"/>
            </a:pPr>
            <a:endParaRPr lang="en-US" sz="1800" dirty="0">
              <a:solidFill>
                <a:srgbClr val="000000"/>
              </a:solidFill>
              <a:latin typeface="Aptos"/>
            </a:endParaRPr>
          </a:p>
          <a:p>
            <a:pPr marL="342900" indent="-342900" algn="l">
              <a:lnSpc>
                <a:spcPct val="170000"/>
              </a:lnSpc>
              <a:buAutoNum type="arabicPeriod"/>
            </a:pPr>
            <a:endParaRPr lang="en-US" sz="1800" dirty="0">
              <a:solidFill>
                <a:srgbClr val="000000"/>
              </a:solidFill>
              <a:latin typeface="Aptos"/>
            </a:endParaRPr>
          </a:p>
          <a:p>
            <a:pPr marL="182245" indent="-182245">
              <a:lnSpc>
                <a:spcPct val="170000"/>
              </a:lnSpc>
            </a:pPr>
            <a:endParaRPr lang="en-US" sz="1800" dirty="0">
              <a:solidFill>
                <a:srgbClr val="000000"/>
              </a:solidFill>
              <a:latin typeface="Aptos"/>
            </a:endParaRPr>
          </a:p>
          <a:p>
            <a:pPr marL="182245" indent="-182245">
              <a:lnSpc>
                <a:spcPct val="170000"/>
              </a:lnSpc>
            </a:pPr>
            <a:endParaRPr lang="en-US" sz="1800" dirty="0">
              <a:latin typeface="Aptos"/>
            </a:endParaRPr>
          </a:p>
          <a:p>
            <a:pPr marL="182245" indent="-182245">
              <a:lnSpc>
                <a:spcPct val="170000"/>
              </a:lnSpc>
            </a:pPr>
            <a:endParaRPr lang="en-US" sz="1800" dirty="0">
              <a:latin typeface="Aptos"/>
            </a:endParaRPr>
          </a:p>
          <a:p>
            <a:pPr marL="182245" indent="-182245">
              <a:lnSpc>
                <a:spcPct val="170000"/>
              </a:lnSpc>
            </a:pPr>
            <a:endParaRPr lang="en-US" sz="1800" dirty="0">
              <a:latin typeface="Aptos"/>
            </a:endParaRPr>
          </a:p>
          <a:p>
            <a:pPr marL="182245" indent="-182245" algn="l">
              <a:lnSpc>
                <a:spcPct val="170000"/>
              </a:lnSpc>
            </a:pPr>
            <a:endParaRPr lang="en-US" sz="1800" dirty="0">
              <a:latin typeface="Aptos"/>
            </a:endParaRPr>
          </a:p>
          <a:p>
            <a:pPr>
              <a:lnSpc>
                <a:spcPct val="170000"/>
              </a:lnSpc>
            </a:pPr>
            <a:endParaRPr lang="en-US" sz="1800" dirty="0">
              <a:latin typeface="Aptos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E0D20BDB-9E15-ACA7-A885-1B730A1DB386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C17B4-CAF8-657D-0448-D9489CE386D2}"/>
              </a:ext>
            </a:extLst>
          </p:cNvPr>
          <p:cNvSpPr txBox="1"/>
          <p:nvPr/>
        </p:nvSpPr>
        <p:spPr>
          <a:xfrm>
            <a:off x="337035" y="625513"/>
            <a:ext cx="5789534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1: Operators [10 Minutes]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5F08BB-849F-F5CB-3707-2F91AAED596E}"/>
              </a:ext>
            </a:extLst>
          </p:cNvPr>
          <p:cNvSpPr txBox="1"/>
          <p:nvPr/>
        </p:nvSpPr>
        <p:spPr>
          <a:xfrm>
            <a:off x="9232900" y="2294546"/>
            <a:ext cx="1013996" cy="227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364179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DFCF-2150-26A8-9900-BCAFBE96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E290EB-4B0D-EE34-756A-B083554EF3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88C01-196E-848B-A6F9-C3EF58BCEFC1}"/>
              </a:ext>
            </a:extLst>
          </p:cNvPr>
          <p:cNvSpPr txBox="1"/>
          <p:nvPr/>
        </p:nvSpPr>
        <p:spPr>
          <a:xfrm>
            <a:off x="356288" y="611202"/>
            <a:ext cx="6853543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b="1" dirty="0"/>
              <a:t>Task 2: Null Operations [15 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FFB50-6506-AEFA-7EF3-B5075981D379}"/>
              </a:ext>
            </a:extLst>
          </p:cNvPr>
          <p:cNvSpPr/>
          <p:nvPr/>
        </p:nvSpPr>
        <p:spPr>
          <a:xfrm>
            <a:off x="8913091" y="2787243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EEFD7DC-5CBB-32B5-8987-0F2E2C6AEEA0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9736E-9409-3591-07A6-045EFF86F43D}"/>
              </a:ext>
            </a:extLst>
          </p:cNvPr>
          <p:cNvSpPr txBox="1"/>
          <p:nvPr/>
        </p:nvSpPr>
        <p:spPr>
          <a:xfrm>
            <a:off x="191046" y="1336519"/>
            <a:ext cx="8538540" cy="50383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Inside the class </a:t>
            </a:r>
            <a:r>
              <a:rPr lang="en-US" b="1" dirty="0" err="1">
                <a:ea typeface="+mn-lt"/>
                <a:cs typeface="+mn-lt"/>
              </a:rPr>
              <a:t>NullOperations</a:t>
            </a:r>
            <a:r>
              <a:rPr lang="en-US" dirty="0">
                <a:ea typeface="+mn-lt"/>
                <a:cs typeface="+mn-lt"/>
              </a:rPr>
              <a:t>, create a method named </a:t>
            </a:r>
            <a:r>
              <a:rPr lang="en-US" b="1" dirty="0" err="1">
                <a:latin typeface="Aptos"/>
              </a:rPr>
              <a:t>PerformNullChecks</a:t>
            </a:r>
            <a:r>
              <a:rPr lang="en-US" b="1" dirty="0">
                <a:latin typeface="Aptos"/>
              </a:rPr>
              <a:t>()</a:t>
            </a:r>
            <a:r>
              <a:rPr lang="en-US" dirty="0">
                <a:ea typeface="+mn-lt"/>
                <a:cs typeface="+mn-lt"/>
              </a:rPr>
              <a:t> that performs the following tasks: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Declare a string variable named </a:t>
            </a:r>
            <a:r>
              <a:rPr lang="en-US" b="1" dirty="0">
                <a:latin typeface="Aptos"/>
              </a:rPr>
              <a:t>username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and assign </a:t>
            </a:r>
            <a:r>
              <a:rPr lang="en-US" b="1" dirty="0">
                <a:latin typeface="Aptos"/>
              </a:rPr>
              <a:t>null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to it.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Use the </a:t>
            </a:r>
            <a:r>
              <a:rPr lang="en-US" b="1" dirty="0">
                <a:ea typeface="+mn-lt"/>
                <a:cs typeface="+mn-lt"/>
              </a:rPr>
              <a:t>Ternary Operator (</a:t>
            </a:r>
            <a:r>
              <a:rPr lang="en-US" b="1" dirty="0">
                <a:latin typeface="Aptos"/>
              </a:rPr>
              <a:t>? :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 to check whether </a:t>
            </a:r>
            <a:r>
              <a:rPr lang="en-US" dirty="0">
                <a:latin typeface="Aptos"/>
              </a:rPr>
              <a:t>username</a:t>
            </a:r>
            <a:r>
              <a:rPr lang="en-US" dirty="0">
                <a:ea typeface="+mn-lt"/>
                <a:cs typeface="+mn-lt"/>
              </a:rPr>
              <a:t> is </a:t>
            </a:r>
            <a:r>
              <a:rPr lang="en-US" dirty="0">
                <a:latin typeface="Aptos"/>
              </a:rPr>
              <a:t>null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If </a:t>
            </a:r>
            <a:r>
              <a:rPr lang="en-US" dirty="0">
                <a:latin typeface="Aptos"/>
              </a:rPr>
              <a:t>username</a:t>
            </a:r>
            <a:r>
              <a:rPr lang="en-US" dirty="0">
                <a:ea typeface="+mn-lt"/>
                <a:cs typeface="+mn-lt"/>
              </a:rPr>
              <a:t> is </a:t>
            </a:r>
            <a:r>
              <a:rPr lang="en-US" dirty="0">
                <a:latin typeface="Aptos"/>
              </a:rPr>
              <a:t>null</a:t>
            </a:r>
            <a:r>
              <a:rPr lang="en-US" dirty="0">
                <a:ea typeface="+mn-lt"/>
                <a:cs typeface="+mn-lt"/>
              </a:rPr>
              <a:t>, print: </a:t>
            </a:r>
            <a:r>
              <a:rPr lang="en-US" b="1" dirty="0">
                <a:ea typeface="+mn-lt"/>
                <a:cs typeface="+mn-lt"/>
              </a:rPr>
              <a:t>"Username is not available". 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Otherwise, print the value of </a:t>
            </a:r>
            <a:r>
              <a:rPr lang="en-US" b="1" dirty="0">
                <a:latin typeface="Aptos"/>
              </a:rPr>
              <a:t>username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Perform the same null checking using the </a:t>
            </a:r>
            <a:r>
              <a:rPr lang="en-US" b="1" dirty="0">
                <a:ea typeface="+mn-lt"/>
                <a:cs typeface="+mn-lt"/>
              </a:rPr>
              <a:t>Null-Coalescing Operator (??).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Use the </a:t>
            </a:r>
            <a:r>
              <a:rPr lang="en-US" b="1" dirty="0">
                <a:ea typeface="+mn-lt"/>
                <a:cs typeface="+mn-lt"/>
              </a:rPr>
              <a:t>Null-Coalescing Assignment Operator (</a:t>
            </a:r>
            <a:r>
              <a:rPr lang="en-US" b="1" dirty="0">
                <a:latin typeface="Aptos"/>
              </a:rPr>
              <a:t>??=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 to assign a value to </a:t>
            </a:r>
            <a:r>
              <a:rPr lang="en-US" dirty="0">
                <a:latin typeface="Aptos"/>
                <a:ea typeface="+mn-lt"/>
                <a:cs typeface="+mn-lt"/>
              </a:rPr>
              <a:t>username</a:t>
            </a:r>
            <a:r>
              <a:rPr lang="en-US" dirty="0">
                <a:ea typeface="+mn-lt"/>
                <a:cs typeface="+mn-lt"/>
              </a:rPr>
              <a:t> only if it is currently </a:t>
            </a:r>
            <a:r>
              <a:rPr lang="en-US" dirty="0">
                <a:latin typeface="Aptos"/>
                <a:ea typeface="+mn-lt"/>
                <a:cs typeface="+mn-lt"/>
              </a:rPr>
              <a:t>null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After assignment, print the updated value of </a:t>
            </a:r>
            <a:r>
              <a:rPr lang="en-US" dirty="0">
                <a:latin typeface="Aptos"/>
              </a:rPr>
              <a:t>username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b="1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Finally, call the </a:t>
            </a:r>
            <a:r>
              <a:rPr lang="en-US" b="1" dirty="0" err="1">
                <a:latin typeface="Aptos"/>
              </a:rPr>
              <a:t>PerformNullChecks</a:t>
            </a:r>
            <a:r>
              <a:rPr lang="en-US" b="1" dirty="0">
                <a:latin typeface="Aptos"/>
              </a:rPr>
              <a:t>()</a:t>
            </a:r>
            <a:r>
              <a:rPr lang="en-US" dirty="0">
                <a:ea typeface="+mn-lt"/>
                <a:cs typeface="+mn-lt"/>
              </a:rPr>
              <a:t> method from </a:t>
            </a:r>
            <a:r>
              <a:rPr lang="en-US" b="1" dirty="0" err="1">
                <a:latin typeface="Aptos"/>
              </a:rPr>
              <a:t>Program.cs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3CB08-BD76-61AE-E413-36032FB7012E}"/>
              </a:ext>
            </a:extLst>
          </p:cNvPr>
          <p:cNvSpPr txBox="1"/>
          <p:nvPr/>
        </p:nvSpPr>
        <p:spPr>
          <a:xfrm>
            <a:off x="9232900" y="2294546"/>
            <a:ext cx="1013996" cy="227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414366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6D7B-9815-B09F-3F30-F2EA13FC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B69EC3-3DE7-87A7-C623-E587689DE3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84CB7-952C-1469-24FF-B461A10C8D95}"/>
              </a:ext>
            </a:extLst>
          </p:cNvPr>
          <p:cNvSpPr txBox="1"/>
          <p:nvPr/>
        </p:nvSpPr>
        <p:spPr>
          <a:xfrm>
            <a:off x="356288" y="611202"/>
            <a:ext cx="735772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3 : If else and Switch [ 5 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12BC97-9D1C-6795-F66C-7F9BEB82A10E}"/>
              </a:ext>
            </a:extLst>
          </p:cNvPr>
          <p:cNvSpPr/>
          <p:nvPr/>
        </p:nvSpPr>
        <p:spPr>
          <a:xfrm>
            <a:off x="8828424" y="313496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6B500BF-5DFA-6ADC-FD97-9F745B26D7C0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F2421-B1B8-3B4D-ACBE-1FEF97F39A77}"/>
              </a:ext>
            </a:extLst>
          </p:cNvPr>
          <p:cNvSpPr txBox="1"/>
          <p:nvPr/>
        </p:nvSpPr>
        <p:spPr>
          <a:xfrm>
            <a:off x="87163" y="1391394"/>
            <a:ext cx="847724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/>
              <a:t>Ask user to </a:t>
            </a:r>
            <a:r>
              <a:rPr lang="en-US" sz="2000" b="1" dirty="0"/>
              <a:t>input age  </a:t>
            </a:r>
            <a:r>
              <a:rPr lang="en-US" sz="2000" dirty="0"/>
              <a:t>and using </a:t>
            </a:r>
            <a:r>
              <a:rPr lang="en-US" sz="2000" b="1" dirty="0"/>
              <a:t>if – else – if</a:t>
            </a:r>
            <a:r>
              <a:rPr lang="en-US" sz="2000" dirty="0"/>
              <a:t> display: </a:t>
            </a:r>
            <a:endParaRPr lang="en-US" b="1" dirty="0"/>
          </a:p>
          <a:p>
            <a:pPr algn="ct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420144-C282-0998-B95F-55D654069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283452"/>
              </p:ext>
            </p:extLst>
          </p:nvPr>
        </p:nvGraphicFramePr>
        <p:xfrm>
          <a:off x="2081448" y="2391446"/>
          <a:ext cx="2951825" cy="14630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06957">
                  <a:extLst>
                    <a:ext uri="{9D8B030D-6E8A-4147-A177-3AD203B41FA5}">
                      <a16:colId xmlns:a16="http://schemas.microsoft.com/office/drawing/2014/main" val="3398643266"/>
                    </a:ext>
                  </a:extLst>
                </a:gridCol>
                <a:gridCol w="1644868">
                  <a:extLst>
                    <a:ext uri="{9D8B030D-6E8A-4147-A177-3AD203B41FA5}">
                      <a16:colId xmlns:a16="http://schemas.microsoft.com/office/drawing/2014/main" val="2763614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Age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213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&lt; 13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215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13–19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Teenager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720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≥ 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7262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3549A0F-EFBD-DD63-831E-4D67D0302DF0}"/>
              </a:ext>
            </a:extLst>
          </p:cNvPr>
          <p:cNvSpPr txBox="1"/>
          <p:nvPr/>
        </p:nvSpPr>
        <p:spPr>
          <a:xfrm>
            <a:off x="9232900" y="2294546"/>
            <a:ext cx="1013996" cy="227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250653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1829-43DE-A3BE-AFC5-151ADE35D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5FCBC5-D05D-1CE2-8626-B8DED10BD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EFFF8C-92EC-D2BC-4BE7-9A5B984F19F4}"/>
              </a:ext>
            </a:extLst>
          </p:cNvPr>
          <p:cNvSpPr txBox="1"/>
          <p:nvPr/>
        </p:nvSpPr>
        <p:spPr>
          <a:xfrm>
            <a:off x="356288" y="611202"/>
            <a:ext cx="713810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4 : If else and Switch [ 5 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21A3-69B8-28E6-5B44-5E413855E005}"/>
              </a:ext>
            </a:extLst>
          </p:cNvPr>
          <p:cNvSpPr/>
          <p:nvPr/>
        </p:nvSpPr>
        <p:spPr>
          <a:xfrm>
            <a:off x="8969535" y="351596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C7A48B2-2D41-A6AD-51FF-D1F47C9D4DE1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835DF-5A75-22A9-5CA2-AC756083D863}"/>
              </a:ext>
            </a:extLst>
          </p:cNvPr>
          <p:cNvSpPr txBox="1"/>
          <p:nvPr/>
        </p:nvSpPr>
        <p:spPr>
          <a:xfrm>
            <a:off x="87163" y="1391394"/>
            <a:ext cx="847724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Ask user to </a:t>
            </a:r>
            <a:r>
              <a:rPr lang="en-US" b="1" dirty="0">
                <a:ea typeface="+mn-lt"/>
                <a:cs typeface="+mn-lt"/>
              </a:rPr>
              <a:t>input a number (1–7) </a:t>
            </a:r>
            <a:r>
              <a:rPr lang="en-US" dirty="0">
                <a:ea typeface="+mn-lt"/>
                <a:cs typeface="+mn-lt"/>
              </a:rPr>
              <a:t>and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using </a:t>
            </a:r>
            <a:r>
              <a:rPr lang="en-US" b="1" dirty="0">
                <a:latin typeface="Aptos"/>
              </a:rPr>
              <a:t>switch</a:t>
            </a:r>
            <a:r>
              <a:rPr lang="en-US" dirty="0">
                <a:ea typeface="+mn-lt"/>
                <a:cs typeface="+mn-lt"/>
              </a:rPr>
              <a:t>, print the day of the week: 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br>
              <a:rPr lang="en-US" b="1" dirty="0"/>
            </a:br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010F87-BBF3-6355-E926-28752B71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658827"/>
              </p:ext>
            </p:extLst>
          </p:nvPr>
        </p:nvGraphicFramePr>
        <p:xfrm>
          <a:off x="2595562" y="2298964"/>
          <a:ext cx="3952842" cy="2194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76472">
                  <a:extLst>
                    <a:ext uri="{9D8B030D-6E8A-4147-A177-3AD203B41FA5}">
                      <a16:colId xmlns:a16="http://schemas.microsoft.com/office/drawing/2014/main" val="300434513"/>
                    </a:ext>
                  </a:extLst>
                </a:gridCol>
                <a:gridCol w="2176370">
                  <a:extLst>
                    <a:ext uri="{9D8B030D-6E8A-4147-A177-3AD203B41FA5}">
                      <a16:colId xmlns:a16="http://schemas.microsoft.com/office/drawing/2014/main" val="3570682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157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Sunday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264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338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955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Saturday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49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Invalid day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4846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A120E83-4F8D-C873-8376-BB292D7CD012}"/>
              </a:ext>
            </a:extLst>
          </p:cNvPr>
          <p:cNvSpPr txBox="1"/>
          <p:nvPr/>
        </p:nvSpPr>
        <p:spPr>
          <a:xfrm>
            <a:off x="9232900" y="2294546"/>
            <a:ext cx="1013996" cy="227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197198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DB7F2-9CB5-D30E-3193-9EA61B774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B8D7D-B1BD-1FEB-101F-E423546C1D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48230-691E-6BF1-C47D-19FA5A01F798}"/>
              </a:ext>
            </a:extLst>
          </p:cNvPr>
          <p:cNvSpPr txBox="1"/>
          <p:nvPr/>
        </p:nvSpPr>
        <p:spPr>
          <a:xfrm>
            <a:off x="356288" y="611202"/>
            <a:ext cx="5218544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5 : Loops [ 15 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9A83D1-74DF-9070-5363-72DEB10D5064}"/>
              </a:ext>
            </a:extLst>
          </p:cNvPr>
          <p:cNvSpPr/>
          <p:nvPr/>
        </p:nvSpPr>
        <p:spPr>
          <a:xfrm>
            <a:off x="8913091" y="3912137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78DC163-9B9C-A6E6-29DD-B3CC903E889D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2C9BC-EB59-78AC-8344-B0E36EA66EBC}"/>
              </a:ext>
            </a:extLst>
          </p:cNvPr>
          <p:cNvSpPr txBox="1"/>
          <p:nvPr/>
        </p:nvSpPr>
        <p:spPr>
          <a:xfrm>
            <a:off x="87163" y="1504283"/>
            <a:ext cx="847724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Ask the user to </a:t>
            </a:r>
            <a:r>
              <a:rPr lang="en-US" b="1" dirty="0">
                <a:ea typeface="+mn-lt"/>
                <a:cs typeface="+mn-lt"/>
              </a:rPr>
              <a:t>input</a:t>
            </a:r>
            <a:r>
              <a:rPr lang="en-US" dirty="0">
                <a:ea typeface="+mn-lt"/>
                <a:cs typeface="+mn-lt"/>
              </a:rPr>
              <a:t> a number </a:t>
            </a:r>
            <a:r>
              <a:rPr lang="en-US" b="1" dirty="0">
                <a:latin typeface="Consolas"/>
                <a:ea typeface="+mn-lt"/>
                <a:cs typeface="+mn-lt"/>
              </a:rPr>
              <a:t>N</a:t>
            </a:r>
            <a:r>
              <a:rPr lang="en-US" dirty="0">
                <a:ea typeface="+mn-lt"/>
                <a:cs typeface="+mn-lt"/>
              </a:rPr>
              <a:t>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Using a </a:t>
            </a:r>
            <a:r>
              <a:rPr lang="en-US" b="1" dirty="0">
                <a:latin typeface="Consolas"/>
                <a:ea typeface="+mn-lt"/>
                <a:cs typeface="+mn-lt"/>
              </a:rPr>
              <a:t>for</a:t>
            </a:r>
            <a:r>
              <a:rPr lang="en-US" b="1" dirty="0">
                <a:ea typeface="+mn-lt"/>
                <a:cs typeface="+mn-lt"/>
              </a:rPr>
              <a:t> loop</a:t>
            </a:r>
            <a:r>
              <a:rPr lang="en-US" dirty="0">
                <a:ea typeface="+mn-lt"/>
                <a:cs typeface="+mn-lt"/>
              </a:rPr>
              <a:t>, calculate and print the </a:t>
            </a:r>
            <a:r>
              <a:rPr lang="en-US" b="1" dirty="0">
                <a:ea typeface="+mn-lt"/>
                <a:cs typeface="+mn-lt"/>
              </a:rPr>
              <a:t>sum from 1 to 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Example: Input: </a:t>
            </a:r>
            <a:r>
              <a:rPr lang="en-US" dirty="0">
                <a:latin typeface="Consolas"/>
                <a:ea typeface="+mn-lt"/>
                <a:cs typeface="+mn-lt"/>
              </a:rPr>
              <a:t>5</a:t>
            </a:r>
            <a:r>
              <a:rPr lang="en-US" dirty="0">
                <a:ea typeface="+mn-lt"/>
                <a:cs typeface="+mn-lt"/>
              </a:rPr>
              <a:t> → Output: </a:t>
            </a:r>
            <a:r>
              <a:rPr lang="en-US" dirty="0">
                <a:latin typeface="Consolas"/>
                <a:ea typeface="+mn-lt"/>
                <a:cs typeface="+mn-lt"/>
              </a:rPr>
              <a:t>15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endParaRPr lang="en-US" dirty="0">
              <a:latin typeface="Consolas"/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en-US" dirty="0">
                <a:latin typeface="Aptos"/>
                <a:ea typeface="+mn-lt"/>
                <a:cs typeface="+mn-lt"/>
              </a:rPr>
              <a:t>Print</a:t>
            </a:r>
            <a:r>
              <a:rPr lang="en-US" dirty="0">
                <a:ea typeface="+mn-lt"/>
                <a:cs typeface="+mn-lt"/>
              </a:rPr>
              <a:t> numbers from 1 to 20 using </a:t>
            </a:r>
            <a:r>
              <a:rPr lang="en-US" b="1" dirty="0">
                <a:ea typeface="+mn-lt"/>
                <a:cs typeface="+mn-lt"/>
              </a:rPr>
              <a:t>while loop:</a:t>
            </a:r>
            <a:endParaRPr lang="en-US" b="1" dirty="0">
              <a:latin typeface="Consolas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Skip (continue)</a:t>
            </a:r>
            <a:r>
              <a:rPr lang="en-US" dirty="0">
                <a:ea typeface="+mn-lt"/>
                <a:cs typeface="+mn-lt"/>
              </a:rPr>
              <a:t> multiples of 4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Stop (break)</a:t>
            </a:r>
            <a:r>
              <a:rPr lang="en-US" dirty="0">
                <a:ea typeface="+mn-lt"/>
                <a:cs typeface="+mn-lt"/>
              </a:rPr>
              <a:t> when number is 15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Write a program to find the </a:t>
            </a:r>
            <a:r>
              <a:rPr lang="en-US" b="1" dirty="0">
                <a:ea typeface="+mn-lt"/>
                <a:cs typeface="+mn-lt"/>
              </a:rPr>
              <a:t>sum</a:t>
            </a:r>
            <a:r>
              <a:rPr lang="en-US" dirty="0">
                <a:ea typeface="+mn-lt"/>
                <a:cs typeface="+mn-lt"/>
              </a:rPr>
              <a:t> of all elements in </a:t>
            </a:r>
            <a:r>
              <a:rPr lang="en-US" b="1" dirty="0">
                <a:ea typeface="+mn-lt"/>
                <a:cs typeface="+mn-lt"/>
              </a:rPr>
              <a:t>an array</a:t>
            </a:r>
            <a:r>
              <a:rPr lang="en-US" dirty="0">
                <a:ea typeface="+mn-lt"/>
                <a:cs typeface="+mn-lt"/>
              </a:rPr>
              <a:t> using a </a:t>
            </a:r>
            <a:r>
              <a:rPr lang="en-US" b="1" dirty="0">
                <a:latin typeface="Aptos"/>
              </a:rPr>
              <a:t>foreach</a:t>
            </a:r>
            <a:r>
              <a:rPr lang="en-US" b="1" dirty="0">
                <a:ea typeface="+mn-lt"/>
                <a:cs typeface="+mn-lt"/>
              </a:rPr>
              <a:t> loop.</a:t>
            </a:r>
            <a:endParaRPr lang="en-US" b="1" dirty="0">
              <a:latin typeface="Aptos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Aptos"/>
            </a:endParaRP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5ECEF-D166-42AD-43B1-FC9D71C4430F}"/>
              </a:ext>
            </a:extLst>
          </p:cNvPr>
          <p:cNvSpPr txBox="1"/>
          <p:nvPr/>
        </p:nvSpPr>
        <p:spPr>
          <a:xfrm>
            <a:off x="9232900" y="2294546"/>
            <a:ext cx="1013996" cy="227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116216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CC06-C248-24B7-3010-4151F816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EF64A5-6429-3528-6FF2-F7E45B522B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C8DD8-E3E4-46A5-F8B0-B6944B36F8C8}"/>
              </a:ext>
            </a:extLst>
          </p:cNvPr>
          <p:cNvSpPr/>
          <p:nvPr/>
        </p:nvSpPr>
        <p:spPr>
          <a:xfrm>
            <a:off x="8913092" y="425161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3279017F-5910-1385-8A12-D026C7D47971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215D06-E742-FA72-A65D-3FA3E18985F6}"/>
              </a:ext>
            </a:extLst>
          </p:cNvPr>
          <p:cNvSpPr txBox="1"/>
          <p:nvPr/>
        </p:nvSpPr>
        <p:spPr>
          <a:xfrm>
            <a:off x="365912" y="633935"/>
            <a:ext cx="6988836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b="1" dirty="0"/>
              <a:t>Task 6: Try Catch Finally [20 Minutes]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643C61-717F-D911-B666-1E4D1C723DA5}"/>
              </a:ext>
            </a:extLst>
          </p:cNvPr>
          <p:cNvSpPr txBox="1"/>
          <p:nvPr/>
        </p:nvSpPr>
        <p:spPr>
          <a:xfrm>
            <a:off x="169333" y="1509889"/>
            <a:ext cx="8269111" cy="5216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Write a program</a:t>
            </a:r>
            <a:r>
              <a:rPr lang="en-US" dirty="0"/>
              <a:t> that accepts a number from the user and converts it to an integer.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dirty="0"/>
              <a:t>If user enters</a:t>
            </a:r>
            <a:r>
              <a:rPr lang="en-US" b="1" dirty="0"/>
              <a:t> invalid</a:t>
            </a:r>
            <a:r>
              <a:rPr lang="en-US" dirty="0"/>
              <a:t> input (e.g., letters), </a:t>
            </a:r>
            <a:r>
              <a:rPr lang="en-US" b="1" dirty="0"/>
              <a:t>catch the exception</a:t>
            </a:r>
            <a:r>
              <a:rPr lang="en-US" dirty="0"/>
              <a:t> and show:</a:t>
            </a:r>
            <a:br>
              <a:rPr lang="en-US" dirty="0"/>
            </a:br>
            <a:r>
              <a:rPr lang="en-US" b="1" dirty="0"/>
              <a:t>"Invalid number format".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dirty="0"/>
              <a:t>Display </a:t>
            </a:r>
            <a:r>
              <a:rPr lang="en-US" b="1" dirty="0"/>
              <a:t>"Program Executed"</a:t>
            </a:r>
            <a:r>
              <a:rPr lang="en-US" dirty="0"/>
              <a:t> in </a:t>
            </a:r>
            <a:r>
              <a:rPr lang="en-US" b="1" dirty="0"/>
              <a:t>finally</a:t>
            </a:r>
            <a:r>
              <a:rPr lang="en-US" dirty="0"/>
              <a:t> block. 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ea typeface="+mn-lt"/>
                <a:cs typeface="+mn-lt"/>
              </a:rPr>
              <a:t>Write a program</a:t>
            </a:r>
            <a:r>
              <a:rPr lang="en-US" dirty="0">
                <a:ea typeface="+mn-lt"/>
                <a:cs typeface="+mn-lt"/>
              </a:rPr>
              <a:t> that asks for a password.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If password </a:t>
            </a:r>
            <a:r>
              <a:rPr lang="en-US" b="1" dirty="0">
                <a:ea typeface="+mn-lt"/>
                <a:cs typeface="+mn-lt"/>
              </a:rPr>
              <a:t>length is less than 6</a:t>
            </a:r>
            <a:r>
              <a:rPr lang="en-US" dirty="0">
                <a:ea typeface="+mn-lt"/>
                <a:cs typeface="+mn-lt"/>
              </a:rPr>
              <a:t> characters, use </a:t>
            </a:r>
            <a:r>
              <a:rPr lang="en-US" b="1" dirty="0">
                <a:latin typeface="Aptos"/>
              </a:rPr>
              <a:t>throw</a:t>
            </a:r>
            <a:r>
              <a:rPr lang="en-US" b="1" dirty="0">
                <a:ea typeface="+mn-lt"/>
                <a:cs typeface="+mn-lt"/>
              </a:rPr>
              <a:t> to raise exception: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Aptos"/>
              </a:rPr>
              <a:t>"Password must be at least 6 characters."</a:t>
            </a:r>
            <a:endParaRPr lang="en-US" dirty="0"/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dirty="0"/>
              <a:t>Otherwise, print </a:t>
            </a:r>
            <a:r>
              <a:rPr lang="en-US" b="1" dirty="0"/>
              <a:t>"Password satisfied the requirement". </a:t>
            </a:r>
          </a:p>
          <a:p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453D5-F482-6D8B-7A64-776747B45B70}"/>
              </a:ext>
            </a:extLst>
          </p:cNvPr>
          <p:cNvSpPr txBox="1"/>
          <p:nvPr/>
        </p:nvSpPr>
        <p:spPr>
          <a:xfrm>
            <a:off x="9232900" y="2294546"/>
            <a:ext cx="1013996" cy="227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P" sz="1600">
                <a:solidFill>
                  <a:schemeClr val="bg1"/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1621959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Office PowerPoint</Application>
  <PresentationFormat>Widescreen</PresentationFormat>
  <Paragraphs>107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Thaper, Nirmal</dc:creator>
  <cp:lastModifiedBy>Alisha Magar</cp:lastModifiedBy>
  <cp:revision>327</cp:revision>
  <dcterms:created xsi:type="dcterms:W3CDTF">2025-06-03T06:25:01Z</dcterms:created>
  <dcterms:modified xsi:type="dcterms:W3CDTF">2025-11-09T08:58:54Z</dcterms:modified>
</cp:coreProperties>
</file>